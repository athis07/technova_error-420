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B2F52"/>
          </a:solidFill>
          <a:ln/>
        </p:spPr>
      </p:sp>
      <p:sp>
        <p:nvSpPr>
          <p:cNvPr id="3" name="Shape 1"/>
          <p:cNvSpPr/>
          <p:nvPr/>
        </p:nvSpPr>
        <p:spPr>
          <a:xfrm>
            <a:off x="10607040" y="3291840"/>
            <a:ext cx="2926080" cy="2926080"/>
          </a:xfrm>
          <a:prstGeom prst="ellipse">
            <a:avLst/>
          </a:prstGeom>
          <a:solidFill>
            <a:srgbClr val="0E7C86"/>
          </a:solidFill>
          <a:ln/>
        </p:spPr>
      </p:sp>
      <p:sp>
        <p:nvSpPr>
          <p:cNvPr id="4" name="Text 2"/>
          <p:cNvSpPr/>
          <p:nvPr/>
        </p:nvSpPr>
        <p:spPr>
          <a:xfrm>
            <a:off x="640080" y="1965960"/>
            <a:ext cx="8229600" cy="320040"/>
          </a:xfrm>
          <a:prstGeom prst="rect">
            <a:avLst/>
          </a:prstGeom>
          <a:noFill/>
          <a:ln/>
        </p:spPr>
        <p:txBody>
          <a:bodyPr wrap="square" rtlCol="0" anchor="ctr"/>
          <a:lstStyle/>
          <a:p>
            <a:pPr indent="0" marL="0">
              <a:buNone/>
            </a:pPr>
            <a:r>
              <a:rPr lang="en-US" sz="1300" b="1" spc="300" kern="0" dirty="0">
                <a:solidFill>
                  <a:srgbClr val="F2A63A"/>
                </a:solidFill>
                <a:latin typeface="Calibri" pitchFamily="34" charset="0"/>
                <a:ea typeface="Calibri" pitchFamily="34" charset="-122"/>
                <a:cs typeface="Calibri" pitchFamily="34" charset="-120"/>
              </a:rPr>
              <a:t>SOFTWARE REQUIREMENTS SPECIFICATION</a:t>
            </a:r>
            <a:endParaRPr lang="en-US" sz="1300" dirty="0"/>
          </a:p>
        </p:txBody>
      </p:sp>
      <p:sp>
        <p:nvSpPr>
          <p:cNvPr id="5" name="Text 3"/>
          <p:cNvSpPr/>
          <p:nvPr/>
        </p:nvSpPr>
        <p:spPr>
          <a:xfrm>
            <a:off x="594360" y="2286000"/>
            <a:ext cx="9144000" cy="128016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CloudPulse</a:t>
            </a:r>
            <a:endParaRPr lang="en-US" sz="6000" dirty="0"/>
          </a:p>
        </p:txBody>
      </p:sp>
      <p:sp>
        <p:nvSpPr>
          <p:cNvPr id="6" name="Text 4"/>
          <p:cNvSpPr/>
          <p:nvPr/>
        </p:nvSpPr>
        <p:spPr>
          <a:xfrm>
            <a:off x="640080" y="3520440"/>
            <a:ext cx="8412480" cy="731520"/>
          </a:xfrm>
          <a:prstGeom prst="rect">
            <a:avLst/>
          </a:prstGeom>
          <a:noFill/>
          <a:ln/>
        </p:spPr>
        <p:txBody>
          <a:bodyPr wrap="square" rtlCol="0" anchor="ctr"/>
          <a:lstStyle/>
          <a:p>
            <a:pPr indent="0" marL="0">
              <a:buNone/>
            </a:pPr>
            <a:r>
              <a:rPr lang="en-US" sz="1900" dirty="0">
                <a:solidFill>
                  <a:srgbClr val="CADCE8"/>
                </a:solidFill>
                <a:latin typeface="Calibri" pitchFamily="34" charset="0"/>
                <a:ea typeface="Calibri" pitchFamily="34" charset="-122"/>
                <a:cs typeface="Calibri" pitchFamily="34" charset="-120"/>
              </a:rPr>
              <a:t>Cloud-Based CI/CD Pipeline Monitoring &amp; Deployment Observability Platform</a:t>
            </a:r>
            <a:endParaRPr lang="en-US" sz="1900" dirty="0"/>
          </a:p>
        </p:txBody>
      </p:sp>
      <p:sp>
        <p:nvSpPr>
          <p:cNvPr id="7" name="Shape 5"/>
          <p:cNvSpPr/>
          <p:nvPr/>
        </p:nvSpPr>
        <p:spPr>
          <a:xfrm>
            <a:off x="658368" y="4434840"/>
            <a:ext cx="1280160" cy="0"/>
          </a:xfrm>
          <a:prstGeom prst="line">
            <a:avLst/>
          </a:prstGeom>
          <a:noFill/>
          <a:ln w="38100">
            <a:solidFill>
              <a:srgbClr val="F2A63A"/>
            </a:solidFill>
            <a:prstDash val="solid"/>
          </a:ln>
        </p:spPr>
      </p:sp>
      <p:sp>
        <p:nvSpPr>
          <p:cNvPr id="8" name="Text 6"/>
          <p:cNvSpPr/>
          <p:nvPr/>
        </p:nvSpPr>
        <p:spPr>
          <a:xfrm>
            <a:off x="640080" y="4617720"/>
            <a:ext cx="8229600" cy="365760"/>
          </a:xfrm>
          <a:prstGeom prst="rect">
            <a:avLst/>
          </a:prstGeom>
          <a:noFill/>
          <a:ln/>
        </p:spPr>
        <p:txBody>
          <a:bodyPr wrap="square" rtlCol="0" anchor="ctr"/>
          <a:lstStyle/>
          <a:p>
            <a:pPr indent="0" marL="0">
              <a:buNone/>
            </a:pPr>
            <a:r>
              <a:rPr lang="en-US" sz="1300" dirty="0">
                <a:solidFill>
                  <a:srgbClr val="8FA4BC"/>
                </a:solidFill>
                <a:latin typeface="Calibri" pitchFamily="34" charset="0"/>
                <a:ea typeface="Calibri" pitchFamily="34" charset="-122"/>
                <a:cs typeface="Calibri" pitchFamily="34" charset="-120"/>
              </a:rPr>
              <a:t>Version 1.0   |   Hackathon Project   |   Cloud Computing · DevOps · Observability</a:t>
            </a:r>
            <a:endParaRPr lang="en-US" sz="1300" dirty="0"/>
          </a:p>
        </p:txBody>
      </p:sp>
      <p:sp>
        <p:nvSpPr>
          <p:cNvPr id="9" name="Text 7"/>
          <p:cNvSpPr/>
          <p:nvPr/>
        </p:nvSpPr>
        <p:spPr>
          <a:xfrm>
            <a:off x="640080" y="6035040"/>
            <a:ext cx="9144000" cy="320040"/>
          </a:xfrm>
          <a:prstGeom prst="rect">
            <a:avLst/>
          </a:prstGeom>
          <a:noFill/>
          <a:ln/>
        </p:spPr>
        <p:txBody>
          <a:bodyPr wrap="square" rtlCol="0" anchor="ctr"/>
          <a:lstStyle/>
          <a:p>
            <a:pPr indent="0" marL="0">
              <a:buNone/>
            </a:pPr>
            <a:r>
              <a:rPr lang="en-US" sz="1150" dirty="0">
                <a:solidFill>
                  <a:srgbClr val="6C81A0"/>
                </a:solidFill>
                <a:latin typeface="Calibri" pitchFamily="34" charset="0"/>
                <a:ea typeface="Calibri" pitchFamily="34" charset="-122"/>
                <a:cs typeface="Calibri" pitchFamily="34" charset="-120"/>
              </a:rPr>
              <a:t>Guided by Mr. Somasundaram K   |   Dept. of CSE, Bannari Amman Institute of Technology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Purpose</a:t>
            </a:r>
            <a:endParaRPr lang="en-US" sz="3000" dirty="0"/>
          </a:p>
        </p:txBody>
      </p:sp>
      <p:sp>
        <p:nvSpPr>
          <p:cNvPr id="4" name="Text 2"/>
          <p:cNvSpPr/>
          <p:nvPr/>
        </p:nvSpPr>
        <p:spPr>
          <a:xfrm>
            <a:off x="548640" y="1508760"/>
            <a:ext cx="5943600" cy="2103120"/>
          </a:xfrm>
          <a:prstGeom prst="rect">
            <a:avLst/>
          </a:prstGeom>
          <a:noFill/>
          <a:ln/>
        </p:spPr>
        <p:txBody>
          <a:bodyPr wrap="square" rtlCol="0" anchor="ctr"/>
          <a:lstStyle/>
          <a:p>
            <a:pPr indent="0" marL="0">
              <a:lnSpc>
                <a:spcPct val="130000"/>
              </a:lnSpc>
              <a:buNone/>
            </a:pPr>
            <a:r>
              <a:rPr lang="en-US" sz="1500" dirty="0">
                <a:solidFill>
                  <a:srgbClr val="1A2430"/>
                </a:solidFill>
                <a:latin typeface="Calibri" pitchFamily="34" charset="0"/>
                <a:ea typeface="Calibri" pitchFamily="34" charset="-122"/>
                <a:cs typeface="Calibri" pitchFamily="34" charset="-120"/>
              </a:rPr>
              <a:t>CloudPulse is a cloud-based DevOps monitoring platform that provides centralized visibility into Continuous Integration and Continuous Deployment (CI/CD) pipelines. It enables development and operations teams to monitor build progress, deployment status, infrastructure health, failures, deployment history, and notifications — all from a single dashboard.</a:t>
            </a:r>
            <a:endParaRPr lang="en-US" sz="1500" dirty="0"/>
          </a:p>
        </p:txBody>
      </p:sp>
      <p:sp>
        <p:nvSpPr>
          <p:cNvPr id="5" name="Text 3"/>
          <p:cNvSpPr/>
          <p:nvPr/>
        </p:nvSpPr>
        <p:spPr>
          <a:xfrm>
            <a:off x="548640" y="3703320"/>
            <a:ext cx="5943600" cy="1188720"/>
          </a:xfrm>
          <a:prstGeom prst="rect">
            <a:avLst/>
          </a:prstGeom>
          <a:noFill/>
          <a:ln/>
        </p:spPr>
        <p:txBody>
          <a:bodyPr wrap="square" rtlCol="0" anchor="ctr"/>
          <a:lstStyle/>
          <a:p>
            <a:pPr indent="0" marL="0">
              <a:lnSpc>
                <a:spcPct val="130000"/>
              </a:lnSpc>
              <a:buNone/>
            </a:pPr>
            <a:r>
              <a:rPr lang="en-US" sz="1500" i="1" dirty="0">
                <a:solidFill>
                  <a:srgbClr val="5B6B7C"/>
                </a:solidFill>
                <a:latin typeface="Calibri" pitchFamily="34" charset="0"/>
                <a:ea typeface="Calibri" pitchFamily="34" charset="-122"/>
                <a:cs typeface="Calibri" pitchFamily="34" charset="-120"/>
              </a:rPr>
              <a:t>The system integrates Jenkins, AWS services, Grafana, and CloudWatch to simplify monitoring and reduce the time required to identify and troubleshoot deployment issues.</a:t>
            </a:r>
            <a:endParaRPr lang="en-US" sz="1500" dirty="0"/>
          </a:p>
        </p:txBody>
      </p:sp>
      <p:sp>
        <p:nvSpPr>
          <p:cNvPr id="6" name="Shape 4"/>
          <p:cNvSpPr/>
          <p:nvPr/>
        </p:nvSpPr>
        <p:spPr>
          <a:xfrm>
            <a:off x="7040880" y="1508760"/>
            <a:ext cx="4572000" cy="4114800"/>
          </a:xfrm>
          <a:prstGeom prst="roundRect">
            <a:avLst>
              <a:gd name="adj" fmla="val 2222"/>
            </a:avLst>
          </a:prstGeom>
          <a:solidFill>
            <a:srgbClr val="12233F"/>
          </a:solidFill>
          <a:ln/>
        </p:spPr>
      </p:sp>
      <p:sp>
        <p:nvSpPr>
          <p:cNvPr id="7" name="Text 5"/>
          <p:cNvSpPr/>
          <p:nvPr/>
        </p:nvSpPr>
        <p:spPr>
          <a:xfrm>
            <a:off x="7406640" y="1783080"/>
            <a:ext cx="3840480" cy="274320"/>
          </a:xfrm>
          <a:prstGeom prst="rect">
            <a:avLst/>
          </a:prstGeom>
          <a:noFill/>
          <a:ln/>
        </p:spPr>
        <p:txBody>
          <a:bodyPr wrap="square" rtlCol="0" anchor="ctr"/>
          <a:lstStyle/>
          <a:p>
            <a:pPr indent="0" marL="0">
              <a:buNone/>
            </a:pPr>
            <a:r>
              <a:rPr lang="en-US" sz="1100" b="1" spc="200" kern="0" dirty="0">
                <a:solidFill>
                  <a:srgbClr val="F2A63A"/>
                </a:solidFill>
                <a:latin typeface="Calibri" pitchFamily="34" charset="0"/>
                <a:ea typeface="Calibri" pitchFamily="34" charset="-122"/>
                <a:cs typeface="Calibri" pitchFamily="34" charset="-120"/>
              </a:rPr>
              <a:t>BUILT ON</a:t>
            </a:r>
            <a:endParaRPr lang="en-US" sz="1100" dirty="0"/>
          </a:p>
        </p:txBody>
      </p:sp>
      <p:sp>
        <p:nvSpPr>
          <p:cNvPr id="8" name="Shape 6"/>
          <p:cNvSpPr/>
          <p:nvPr/>
        </p:nvSpPr>
        <p:spPr>
          <a:xfrm>
            <a:off x="7406640" y="2194560"/>
            <a:ext cx="457200" cy="457200"/>
          </a:xfrm>
          <a:prstGeom prst="ellipse">
            <a:avLst/>
          </a:prstGeom>
          <a:solidFill>
            <a:srgbClr val="0E7C86"/>
          </a:solidFill>
          <a:ln/>
        </p:spPr>
      </p:sp>
      <p:sp>
        <p:nvSpPr>
          <p:cNvPr id="9" name="Text 7"/>
          <p:cNvSpPr/>
          <p:nvPr/>
        </p:nvSpPr>
        <p:spPr>
          <a:xfrm>
            <a:off x="7406640" y="219456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8001000" y="2194560"/>
            <a:ext cx="320040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Jenkins</a:t>
            </a:r>
            <a:endParaRPr lang="en-US" sz="1700" dirty="0"/>
          </a:p>
        </p:txBody>
      </p:sp>
      <p:sp>
        <p:nvSpPr>
          <p:cNvPr id="11" name="Shape 9"/>
          <p:cNvSpPr/>
          <p:nvPr/>
        </p:nvSpPr>
        <p:spPr>
          <a:xfrm>
            <a:off x="7406640" y="3035808"/>
            <a:ext cx="457200" cy="457200"/>
          </a:xfrm>
          <a:prstGeom prst="ellipse">
            <a:avLst/>
          </a:prstGeom>
          <a:solidFill>
            <a:srgbClr val="0E7C86"/>
          </a:solidFill>
          <a:ln/>
        </p:spPr>
      </p:sp>
      <p:sp>
        <p:nvSpPr>
          <p:cNvPr id="12" name="Text 10"/>
          <p:cNvSpPr/>
          <p:nvPr/>
        </p:nvSpPr>
        <p:spPr>
          <a:xfrm>
            <a:off x="7406640" y="303580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8001000" y="3035808"/>
            <a:ext cx="320040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AWS Services</a:t>
            </a:r>
            <a:endParaRPr lang="en-US" sz="1700" dirty="0"/>
          </a:p>
        </p:txBody>
      </p:sp>
      <p:sp>
        <p:nvSpPr>
          <p:cNvPr id="14" name="Shape 12"/>
          <p:cNvSpPr/>
          <p:nvPr/>
        </p:nvSpPr>
        <p:spPr>
          <a:xfrm>
            <a:off x="7406640" y="3877056"/>
            <a:ext cx="457200" cy="457200"/>
          </a:xfrm>
          <a:prstGeom prst="ellipse">
            <a:avLst/>
          </a:prstGeom>
          <a:solidFill>
            <a:srgbClr val="0E7C86"/>
          </a:solidFill>
          <a:ln/>
        </p:spPr>
      </p:sp>
      <p:sp>
        <p:nvSpPr>
          <p:cNvPr id="15" name="Text 13"/>
          <p:cNvSpPr/>
          <p:nvPr/>
        </p:nvSpPr>
        <p:spPr>
          <a:xfrm>
            <a:off x="7406640" y="3877056"/>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8001000" y="3877056"/>
            <a:ext cx="320040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Grafana</a:t>
            </a:r>
            <a:endParaRPr lang="en-US" sz="1700" dirty="0"/>
          </a:p>
        </p:txBody>
      </p:sp>
      <p:sp>
        <p:nvSpPr>
          <p:cNvPr id="17" name="Shape 15"/>
          <p:cNvSpPr/>
          <p:nvPr/>
        </p:nvSpPr>
        <p:spPr>
          <a:xfrm>
            <a:off x="7406640" y="4718304"/>
            <a:ext cx="457200" cy="457200"/>
          </a:xfrm>
          <a:prstGeom prst="ellipse">
            <a:avLst/>
          </a:prstGeom>
          <a:solidFill>
            <a:srgbClr val="0E7C86"/>
          </a:solidFill>
          <a:ln/>
        </p:spPr>
      </p:sp>
      <p:sp>
        <p:nvSpPr>
          <p:cNvPr id="18" name="Text 16"/>
          <p:cNvSpPr/>
          <p:nvPr/>
        </p:nvSpPr>
        <p:spPr>
          <a:xfrm>
            <a:off x="7406640" y="4718304"/>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8001000" y="4718304"/>
            <a:ext cx="320040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CloudWatch</a:t>
            </a:r>
            <a:endParaRPr lang="en-US" sz="1700" dirty="0"/>
          </a:p>
        </p:txBody>
      </p:sp>
      <p:sp>
        <p:nvSpPr>
          <p:cNvPr id="20" name="Text 18"/>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21" name="Text 19"/>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Scope</a:t>
            </a:r>
            <a:endParaRPr lang="en-US" sz="3000" dirty="0"/>
          </a:p>
        </p:txBody>
      </p:sp>
      <p:sp>
        <p:nvSpPr>
          <p:cNvPr id="4" name="Text 2"/>
          <p:cNvSpPr/>
          <p:nvPr/>
        </p:nvSpPr>
        <p:spPr>
          <a:xfrm>
            <a:off x="548640" y="1417320"/>
            <a:ext cx="10972800" cy="502920"/>
          </a:xfrm>
          <a:prstGeom prst="rect">
            <a:avLst/>
          </a:prstGeom>
          <a:noFill/>
          <a:ln/>
        </p:spPr>
        <p:txBody>
          <a:bodyPr wrap="square" rtlCol="0" anchor="ctr"/>
          <a:lstStyle/>
          <a:p>
            <a:pPr indent="0" marL="0">
              <a:buNone/>
            </a:pPr>
            <a:r>
              <a:rPr lang="en-US" sz="1450" i="1" dirty="0">
                <a:solidFill>
                  <a:srgbClr val="5B6B7C"/>
                </a:solidFill>
                <a:latin typeface="Calibri" pitchFamily="34" charset="0"/>
                <a:ea typeface="Calibri" pitchFamily="34" charset="-122"/>
                <a:cs typeface="Calibri" pitchFamily="34" charset="-120"/>
              </a:rPr>
              <a:t>The system monitors the complete software deployment lifecycle — from source code commit to deployment on AWS EC2 instances.</a:t>
            </a:r>
            <a:endParaRPr lang="en-US" sz="1450" dirty="0"/>
          </a:p>
        </p:txBody>
      </p:sp>
      <p:sp>
        <p:nvSpPr>
          <p:cNvPr id="5" name="Shape 3"/>
          <p:cNvSpPr/>
          <p:nvPr/>
        </p:nvSpPr>
        <p:spPr>
          <a:xfrm>
            <a:off x="548640" y="2148840"/>
            <a:ext cx="2121408" cy="1417320"/>
          </a:xfrm>
          <a:prstGeom prst="roundRect">
            <a:avLst>
              <a:gd name="adj" fmla="val 5161"/>
            </a:avLst>
          </a:prstGeom>
          <a:solidFill>
            <a:srgbClr val="EEF3F6"/>
          </a:solidFill>
          <a:ln/>
        </p:spPr>
      </p:sp>
      <p:sp>
        <p:nvSpPr>
          <p:cNvPr id="6" name="Shape 4"/>
          <p:cNvSpPr/>
          <p:nvPr/>
        </p:nvSpPr>
        <p:spPr>
          <a:xfrm>
            <a:off x="749808" y="2350008"/>
            <a:ext cx="384048" cy="384048"/>
          </a:xfrm>
          <a:prstGeom prst="ellipse">
            <a:avLst/>
          </a:prstGeom>
          <a:solidFill>
            <a:srgbClr val="0E7C86"/>
          </a:solidFill>
          <a:ln/>
        </p:spPr>
      </p:sp>
      <p:sp>
        <p:nvSpPr>
          <p:cNvPr id="7" name="Text 5"/>
          <p:cNvSpPr/>
          <p:nvPr/>
        </p:nvSpPr>
        <p:spPr>
          <a:xfrm>
            <a:off x="749808" y="235000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8" name="Text 6"/>
          <p:cNvSpPr/>
          <p:nvPr/>
        </p:nvSpPr>
        <p:spPr>
          <a:xfrm>
            <a:off x="713232" y="2862072"/>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Real-time pipeline monitoring</a:t>
            </a:r>
            <a:endParaRPr lang="en-US" sz="1200" dirty="0"/>
          </a:p>
        </p:txBody>
      </p:sp>
      <p:sp>
        <p:nvSpPr>
          <p:cNvPr id="9" name="Shape 7"/>
          <p:cNvSpPr/>
          <p:nvPr/>
        </p:nvSpPr>
        <p:spPr>
          <a:xfrm>
            <a:off x="2816352" y="2148840"/>
            <a:ext cx="2121408" cy="1417320"/>
          </a:xfrm>
          <a:prstGeom prst="roundRect">
            <a:avLst>
              <a:gd name="adj" fmla="val 5161"/>
            </a:avLst>
          </a:prstGeom>
          <a:solidFill>
            <a:srgbClr val="EEF3F6"/>
          </a:solidFill>
          <a:ln/>
        </p:spPr>
      </p:sp>
      <p:sp>
        <p:nvSpPr>
          <p:cNvPr id="10" name="Shape 8"/>
          <p:cNvSpPr/>
          <p:nvPr/>
        </p:nvSpPr>
        <p:spPr>
          <a:xfrm>
            <a:off x="3017520" y="2350008"/>
            <a:ext cx="384048" cy="384048"/>
          </a:xfrm>
          <a:prstGeom prst="ellipse">
            <a:avLst/>
          </a:prstGeom>
          <a:solidFill>
            <a:srgbClr val="0E7C86"/>
          </a:solidFill>
          <a:ln/>
        </p:spPr>
      </p:sp>
      <p:sp>
        <p:nvSpPr>
          <p:cNvPr id="11" name="Text 9"/>
          <p:cNvSpPr/>
          <p:nvPr/>
        </p:nvSpPr>
        <p:spPr>
          <a:xfrm>
            <a:off x="3017520" y="235000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12" name="Text 10"/>
          <p:cNvSpPr/>
          <p:nvPr/>
        </p:nvSpPr>
        <p:spPr>
          <a:xfrm>
            <a:off x="2980944" y="2862072"/>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Build status tracking</a:t>
            </a:r>
            <a:endParaRPr lang="en-US" sz="1200" dirty="0"/>
          </a:p>
        </p:txBody>
      </p:sp>
      <p:sp>
        <p:nvSpPr>
          <p:cNvPr id="13" name="Shape 11"/>
          <p:cNvSpPr/>
          <p:nvPr/>
        </p:nvSpPr>
        <p:spPr>
          <a:xfrm>
            <a:off x="5084064" y="2148840"/>
            <a:ext cx="2121408" cy="1417320"/>
          </a:xfrm>
          <a:prstGeom prst="roundRect">
            <a:avLst>
              <a:gd name="adj" fmla="val 5161"/>
            </a:avLst>
          </a:prstGeom>
          <a:solidFill>
            <a:srgbClr val="EEF3F6"/>
          </a:solidFill>
          <a:ln/>
        </p:spPr>
      </p:sp>
      <p:sp>
        <p:nvSpPr>
          <p:cNvPr id="14" name="Shape 12"/>
          <p:cNvSpPr/>
          <p:nvPr/>
        </p:nvSpPr>
        <p:spPr>
          <a:xfrm>
            <a:off x="5285232" y="2350008"/>
            <a:ext cx="384048" cy="384048"/>
          </a:xfrm>
          <a:prstGeom prst="ellipse">
            <a:avLst/>
          </a:prstGeom>
          <a:solidFill>
            <a:srgbClr val="0E7C86"/>
          </a:solidFill>
          <a:ln/>
        </p:spPr>
      </p:sp>
      <p:sp>
        <p:nvSpPr>
          <p:cNvPr id="15" name="Text 13"/>
          <p:cNvSpPr/>
          <p:nvPr/>
        </p:nvSpPr>
        <p:spPr>
          <a:xfrm>
            <a:off x="5285232" y="235000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6" name="Text 14"/>
          <p:cNvSpPr/>
          <p:nvPr/>
        </p:nvSpPr>
        <p:spPr>
          <a:xfrm>
            <a:off x="5248656" y="2862072"/>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Deployment monitoring</a:t>
            </a:r>
            <a:endParaRPr lang="en-US" sz="1200" dirty="0"/>
          </a:p>
        </p:txBody>
      </p:sp>
      <p:sp>
        <p:nvSpPr>
          <p:cNvPr id="17" name="Shape 15"/>
          <p:cNvSpPr/>
          <p:nvPr/>
        </p:nvSpPr>
        <p:spPr>
          <a:xfrm>
            <a:off x="7351776" y="2148840"/>
            <a:ext cx="2121408" cy="1417320"/>
          </a:xfrm>
          <a:prstGeom prst="roundRect">
            <a:avLst>
              <a:gd name="adj" fmla="val 5161"/>
            </a:avLst>
          </a:prstGeom>
          <a:solidFill>
            <a:srgbClr val="EEF3F6"/>
          </a:solidFill>
          <a:ln/>
        </p:spPr>
      </p:sp>
      <p:sp>
        <p:nvSpPr>
          <p:cNvPr id="18" name="Shape 16"/>
          <p:cNvSpPr/>
          <p:nvPr/>
        </p:nvSpPr>
        <p:spPr>
          <a:xfrm>
            <a:off x="7552944" y="2350008"/>
            <a:ext cx="384048" cy="384048"/>
          </a:xfrm>
          <a:prstGeom prst="ellipse">
            <a:avLst/>
          </a:prstGeom>
          <a:solidFill>
            <a:srgbClr val="0E7C86"/>
          </a:solidFill>
          <a:ln/>
        </p:spPr>
      </p:sp>
      <p:sp>
        <p:nvSpPr>
          <p:cNvPr id="19" name="Text 17"/>
          <p:cNvSpPr/>
          <p:nvPr/>
        </p:nvSpPr>
        <p:spPr>
          <a:xfrm>
            <a:off x="7552944" y="235000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4</a:t>
            </a:r>
            <a:endParaRPr lang="en-US" sz="1092" dirty="0"/>
          </a:p>
        </p:txBody>
      </p:sp>
      <p:sp>
        <p:nvSpPr>
          <p:cNvPr id="20" name="Text 18"/>
          <p:cNvSpPr/>
          <p:nvPr/>
        </p:nvSpPr>
        <p:spPr>
          <a:xfrm>
            <a:off x="7516368" y="2862072"/>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Infrastructure monitoring</a:t>
            </a:r>
            <a:endParaRPr lang="en-US" sz="1200" dirty="0"/>
          </a:p>
        </p:txBody>
      </p:sp>
      <p:sp>
        <p:nvSpPr>
          <p:cNvPr id="21" name="Shape 19"/>
          <p:cNvSpPr/>
          <p:nvPr/>
        </p:nvSpPr>
        <p:spPr>
          <a:xfrm>
            <a:off x="9619488" y="2148840"/>
            <a:ext cx="2121408" cy="1417320"/>
          </a:xfrm>
          <a:prstGeom prst="roundRect">
            <a:avLst>
              <a:gd name="adj" fmla="val 5161"/>
            </a:avLst>
          </a:prstGeom>
          <a:solidFill>
            <a:srgbClr val="EEF3F6"/>
          </a:solidFill>
          <a:ln/>
        </p:spPr>
      </p:sp>
      <p:sp>
        <p:nvSpPr>
          <p:cNvPr id="22" name="Shape 20"/>
          <p:cNvSpPr/>
          <p:nvPr/>
        </p:nvSpPr>
        <p:spPr>
          <a:xfrm>
            <a:off x="9820656" y="2350008"/>
            <a:ext cx="384048" cy="384048"/>
          </a:xfrm>
          <a:prstGeom prst="ellipse">
            <a:avLst/>
          </a:prstGeom>
          <a:solidFill>
            <a:srgbClr val="0E7C86"/>
          </a:solidFill>
          <a:ln/>
        </p:spPr>
      </p:sp>
      <p:sp>
        <p:nvSpPr>
          <p:cNvPr id="23" name="Text 21"/>
          <p:cNvSpPr/>
          <p:nvPr/>
        </p:nvSpPr>
        <p:spPr>
          <a:xfrm>
            <a:off x="9820656" y="2350008"/>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5</a:t>
            </a:r>
            <a:endParaRPr lang="en-US" sz="1092" dirty="0"/>
          </a:p>
        </p:txBody>
      </p:sp>
      <p:sp>
        <p:nvSpPr>
          <p:cNvPr id="24" name="Text 22"/>
          <p:cNvSpPr/>
          <p:nvPr/>
        </p:nvSpPr>
        <p:spPr>
          <a:xfrm>
            <a:off x="9784080" y="2862072"/>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Failure analysis</a:t>
            </a:r>
            <a:endParaRPr lang="en-US" sz="1200" dirty="0"/>
          </a:p>
        </p:txBody>
      </p:sp>
      <p:sp>
        <p:nvSpPr>
          <p:cNvPr id="25" name="Shape 23"/>
          <p:cNvSpPr/>
          <p:nvPr/>
        </p:nvSpPr>
        <p:spPr>
          <a:xfrm>
            <a:off x="548640" y="3767328"/>
            <a:ext cx="2121408" cy="1417320"/>
          </a:xfrm>
          <a:prstGeom prst="roundRect">
            <a:avLst>
              <a:gd name="adj" fmla="val 5161"/>
            </a:avLst>
          </a:prstGeom>
          <a:solidFill>
            <a:srgbClr val="EEF3F6"/>
          </a:solidFill>
          <a:ln/>
        </p:spPr>
      </p:sp>
      <p:sp>
        <p:nvSpPr>
          <p:cNvPr id="26" name="Shape 24"/>
          <p:cNvSpPr/>
          <p:nvPr/>
        </p:nvSpPr>
        <p:spPr>
          <a:xfrm>
            <a:off x="749808" y="3968496"/>
            <a:ext cx="384048" cy="384048"/>
          </a:xfrm>
          <a:prstGeom prst="ellipse">
            <a:avLst/>
          </a:prstGeom>
          <a:solidFill>
            <a:srgbClr val="0E7C86"/>
          </a:solidFill>
          <a:ln/>
        </p:spPr>
      </p:sp>
      <p:sp>
        <p:nvSpPr>
          <p:cNvPr id="27" name="Text 25"/>
          <p:cNvSpPr/>
          <p:nvPr/>
        </p:nvSpPr>
        <p:spPr>
          <a:xfrm>
            <a:off x="749808" y="3968496"/>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6</a:t>
            </a:r>
            <a:endParaRPr lang="en-US" sz="1092" dirty="0"/>
          </a:p>
        </p:txBody>
      </p:sp>
      <p:sp>
        <p:nvSpPr>
          <p:cNvPr id="28" name="Text 26"/>
          <p:cNvSpPr/>
          <p:nvPr/>
        </p:nvSpPr>
        <p:spPr>
          <a:xfrm>
            <a:off x="713232" y="4480560"/>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Deployment history</a:t>
            </a:r>
            <a:endParaRPr lang="en-US" sz="1200" dirty="0"/>
          </a:p>
        </p:txBody>
      </p:sp>
      <p:sp>
        <p:nvSpPr>
          <p:cNvPr id="29" name="Shape 27"/>
          <p:cNvSpPr/>
          <p:nvPr/>
        </p:nvSpPr>
        <p:spPr>
          <a:xfrm>
            <a:off x="2816352" y="3767328"/>
            <a:ext cx="2121408" cy="1417320"/>
          </a:xfrm>
          <a:prstGeom prst="roundRect">
            <a:avLst>
              <a:gd name="adj" fmla="val 5161"/>
            </a:avLst>
          </a:prstGeom>
          <a:solidFill>
            <a:srgbClr val="EEF3F6"/>
          </a:solidFill>
          <a:ln/>
        </p:spPr>
      </p:sp>
      <p:sp>
        <p:nvSpPr>
          <p:cNvPr id="30" name="Shape 28"/>
          <p:cNvSpPr/>
          <p:nvPr/>
        </p:nvSpPr>
        <p:spPr>
          <a:xfrm>
            <a:off x="3017520" y="3968496"/>
            <a:ext cx="384048" cy="384048"/>
          </a:xfrm>
          <a:prstGeom prst="ellipse">
            <a:avLst/>
          </a:prstGeom>
          <a:solidFill>
            <a:srgbClr val="0E7C86"/>
          </a:solidFill>
          <a:ln/>
        </p:spPr>
      </p:sp>
      <p:sp>
        <p:nvSpPr>
          <p:cNvPr id="31" name="Text 29"/>
          <p:cNvSpPr/>
          <p:nvPr/>
        </p:nvSpPr>
        <p:spPr>
          <a:xfrm>
            <a:off x="3017520" y="3968496"/>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7</a:t>
            </a:r>
            <a:endParaRPr lang="en-US" sz="1092" dirty="0"/>
          </a:p>
        </p:txBody>
      </p:sp>
      <p:sp>
        <p:nvSpPr>
          <p:cNvPr id="32" name="Text 30"/>
          <p:cNvSpPr/>
          <p:nvPr/>
        </p:nvSpPr>
        <p:spPr>
          <a:xfrm>
            <a:off x="2980944" y="4480560"/>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Activity timeline</a:t>
            </a:r>
            <a:endParaRPr lang="en-US" sz="1200" dirty="0"/>
          </a:p>
        </p:txBody>
      </p:sp>
      <p:sp>
        <p:nvSpPr>
          <p:cNvPr id="33" name="Shape 31"/>
          <p:cNvSpPr/>
          <p:nvPr/>
        </p:nvSpPr>
        <p:spPr>
          <a:xfrm>
            <a:off x="5084064" y="3767328"/>
            <a:ext cx="2121408" cy="1417320"/>
          </a:xfrm>
          <a:prstGeom prst="roundRect">
            <a:avLst>
              <a:gd name="adj" fmla="val 5161"/>
            </a:avLst>
          </a:prstGeom>
          <a:solidFill>
            <a:srgbClr val="EEF3F6"/>
          </a:solidFill>
          <a:ln/>
        </p:spPr>
      </p:sp>
      <p:sp>
        <p:nvSpPr>
          <p:cNvPr id="34" name="Shape 32"/>
          <p:cNvSpPr/>
          <p:nvPr/>
        </p:nvSpPr>
        <p:spPr>
          <a:xfrm>
            <a:off x="5285232" y="3968496"/>
            <a:ext cx="384048" cy="384048"/>
          </a:xfrm>
          <a:prstGeom prst="ellipse">
            <a:avLst/>
          </a:prstGeom>
          <a:solidFill>
            <a:srgbClr val="0E7C86"/>
          </a:solidFill>
          <a:ln/>
        </p:spPr>
      </p:sp>
      <p:sp>
        <p:nvSpPr>
          <p:cNvPr id="35" name="Text 33"/>
          <p:cNvSpPr/>
          <p:nvPr/>
        </p:nvSpPr>
        <p:spPr>
          <a:xfrm>
            <a:off x="5285232" y="3968496"/>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8</a:t>
            </a:r>
            <a:endParaRPr lang="en-US" sz="1092" dirty="0"/>
          </a:p>
        </p:txBody>
      </p:sp>
      <p:sp>
        <p:nvSpPr>
          <p:cNvPr id="36" name="Text 34"/>
          <p:cNvSpPr/>
          <p:nvPr/>
        </p:nvSpPr>
        <p:spPr>
          <a:xfrm>
            <a:off x="5248656" y="4480560"/>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Centralized logs</a:t>
            </a:r>
            <a:endParaRPr lang="en-US" sz="1200" dirty="0"/>
          </a:p>
        </p:txBody>
      </p:sp>
      <p:sp>
        <p:nvSpPr>
          <p:cNvPr id="37" name="Shape 35"/>
          <p:cNvSpPr/>
          <p:nvPr/>
        </p:nvSpPr>
        <p:spPr>
          <a:xfrm>
            <a:off x="7351776" y="3767328"/>
            <a:ext cx="2121408" cy="1417320"/>
          </a:xfrm>
          <a:prstGeom prst="roundRect">
            <a:avLst>
              <a:gd name="adj" fmla="val 5161"/>
            </a:avLst>
          </a:prstGeom>
          <a:solidFill>
            <a:srgbClr val="EEF3F6"/>
          </a:solidFill>
          <a:ln/>
        </p:spPr>
      </p:sp>
      <p:sp>
        <p:nvSpPr>
          <p:cNvPr id="38" name="Shape 36"/>
          <p:cNvSpPr/>
          <p:nvPr/>
        </p:nvSpPr>
        <p:spPr>
          <a:xfrm>
            <a:off x="7552944" y="3968496"/>
            <a:ext cx="384048" cy="384048"/>
          </a:xfrm>
          <a:prstGeom prst="ellipse">
            <a:avLst/>
          </a:prstGeom>
          <a:solidFill>
            <a:srgbClr val="0E7C86"/>
          </a:solidFill>
          <a:ln/>
        </p:spPr>
      </p:sp>
      <p:sp>
        <p:nvSpPr>
          <p:cNvPr id="39" name="Text 37"/>
          <p:cNvSpPr/>
          <p:nvPr/>
        </p:nvSpPr>
        <p:spPr>
          <a:xfrm>
            <a:off x="7552944" y="3968496"/>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9</a:t>
            </a:r>
            <a:endParaRPr lang="en-US" sz="1092" dirty="0"/>
          </a:p>
        </p:txBody>
      </p:sp>
      <p:sp>
        <p:nvSpPr>
          <p:cNvPr id="40" name="Text 38"/>
          <p:cNvSpPr/>
          <p:nvPr/>
        </p:nvSpPr>
        <p:spPr>
          <a:xfrm>
            <a:off x="7516368" y="4480560"/>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Multi-channel notifications</a:t>
            </a:r>
            <a:endParaRPr lang="en-US" sz="1200" dirty="0"/>
          </a:p>
        </p:txBody>
      </p:sp>
      <p:sp>
        <p:nvSpPr>
          <p:cNvPr id="41" name="Shape 39"/>
          <p:cNvSpPr/>
          <p:nvPr/>
        </p:nvSpPr>
        <p:spPr>
          <a:xfrm>
            <a:off x="9619488" y="3767328"/>
            <a:ext cx="2121408" cy="1417320"/>
          </a:xfrm>
          <a:prstGeom prst="roundRect">
            <a:avLst>
              <a:gd name="adj" fmla="val 5161"/>
            </a:avLst>
          </a:prstGeom>
          <a:solidFill>
            <a:srgbClr val="EEF3F6"/>
          </a:solidFill>
          <a:ln/>
        </p:spPr>
      </p:sp>
      <p:sp>
        <p:nvSpPr>
          <p:cNvPr id="42" name="Shape 40"/>
          <p:cNvSpPr/>
          <p:nvPr/>
        </p:nvSpPr>
        <p:spPr>
          <a:xfrm>
            <a:off x="9820656" y="3968496"/>
            <a:ext cx="384048" cy="384048"/>
          </a:xfrm>
          <a:prstGeom prst="ellipse">
            <a:avLst/>
          </a:prstGeom>
          <a:solidFill>
            <a:srgbClr val="0E7C86"/>
          </a:solidFill>
          <a:ln/>
        </p:spPr>
      </p:sp>
      <p:sp>
        <p:nvSpPr>
          <p:cNvPr id="43" name="Text 41"/>
          <p:cNvSpPr/>
          <p:nvPr/>
        </p:nvSpPr>
        <p:spPr>
          <a:xfrm>
            <a:off x="9820656" y="3968496"/>
            <a:ext cx="384048" cy="384048"/>
          </a:xfrm>
          <a:prstGeom prst="rect">
            <a:avLst/>
          </a:prstGeom>
          <a:noFill/>
          <a:ln/>
        </p:spPr>
        <p:txBody>
          <a:bodyPr wrap="square"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10</a:t>
            </a:r>
            <a:endParaRPr lang="en-US" sz="1092" dirty="0"/>
          </a:p>
        </p:txBody>
      </p:sp>
      <p:sp>
        <p:nvSpPr>
          <p:cNvPr id="44" name="Text 42"/>
          <p:cNvSpPr/>
          <p:nvPr/>
        </p:nvSpPr>
        <p:spPr>
          <a:xfrm>
            <a:off x="9784080" y="4480560"/>
            <a:ext cx="1792224" cy="621792"/>
          </a:xfrm>
          <a:prstGeom prst="rect">
            <a:avLst/>
          </a:prstGeom>
          <a:noFill/>
          <a:ln/>
        </p:spPr>
        <p:txBody>
          <a:bodyPr wrap="square" rtlCol="0" anchor="ctr"/>
          <a:lstStyle/>
          <a:p>
            <a:pPr indent="0" marL="0">
              <a:lnSpc>
                <a:spcPct val="105000"/>
              </a:lnSpc>
              <a:buNone/>
            </a:pPr>
            <a:r>
              <a:rPr lang="en-US" sz="1200" b="1" dirty="0">
                <a:solidFill>
                  <a:srgbClr val="1A2430"/>
                </a:solidFill>
                <a:latin typeface="Calibri" pitchFamily="34" charset="0"/>
                <a:ea typeface="Calibri" pitchFamily="34" charset="-122"/>
                <a:cs typeface="Calibri" pitchFamily="34" charset="-120"/>
              </a:rPr>
              <a:t>Performance analytics</a:t>
            </a:r>
            <a:endParaRPr lang="en-US" sz="1200" dirty="0"/>
          </a:p>
        </p:txBody>
      </p:sp>
      <p:sp>
        <p:nvSpPr>
          <p:cNvPr id="45" name="Text 43"/>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46" name="Text 44"/>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48640" y="1600200"/>
            <a:ext cx="5394960" cy="914400"/>
          </a:xfrm>
          <a:prstGeom prst="roundRect">
            <a:avLst>
              <a:gd name="adj" fmla="val 8000"/>
            </a:avLst>
          </a:prstGeom>
          <a:solidFill>
            <a:srgbClr val="FFFFFF"/>
          </a:solidFill>
          <a:ln w="12700">
            <a:solidFill>
              <a:srgbClr val="DDE5EC"/>
            </a:solidFill>
            <a:prstDash val="solid"/>
          </a:ln>
        </p:spPr>
      </p:sp>
      <p:sp>
        <p:nvSpPr>
          <p:cNvPr id="5" name="Shape 3"/>
          <p:cNvSpPr/>
          <p:nvPr/>
        </p:nvSpPr>
        <p:spPr>
          <a:xfrm>
            <a:off x="749808" y="1805940"/>
            <a:ext cx="502920" cy="502920"/>
          </a:xfrm>
          <a:prstGeom prst="ellipse">
            <a:avLst/>
          </a:prstGeom>
          <a:solidFill>
            <a:srgbClr val="0E7C86"/>
          </a:solidFill>
          <a:ln/>
        </p:spPr>
      </p:sp>
      <p:sp>
        <p:nvSpPr>
          <p:cNvPr id="6" name="Text 4"/>
          <p:cNvSpPr/>
          <p:nvPr/>
        </p:nvSpPr>
        <p:spPr>
          <a:xfrm>
            <a:off x="749808" y="180594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7" name="Text 5"/>
          <p:cNvSpPr/>
          <p:nvPr/>
        </p:nvSpPr>
        <p:spPr>
          <a:xfrm>
            <a:off x="1417320" y="1600200"/>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Centralize CI/CD monitoring</a:t>
            </a:r>
            <a:endParaRPr lang="en-US" sz="1450" dirty="0"/>
          </a:p>
        </p:txBody>
      </p:sp>
      <p:sp>
        <p:nvSpPr>
          <p:cNvPr id="8" name="Shape 6"/>
          <p:cNvSpPr/>
          <p:nvPr/>
        </p:nvSpPr>
        <p:spPr>
          <a:xfrm>
            <a:off x="548640" y="2679192"/>
            <a:ext cx="5394960" cy="914400"/>
          </a:xfrm>
          <a:prstGeom prst="roundRect">
            <a:avLst>
              <a:gd name="adj" fmla="val 8000"/>
            </a:avLst>
          </a:prstGeom>
          <a:solidFill>
            <a:srgbClr val="FFFFFF"/>
          </a:solidFill>
          <a:ln w="12700">
            <a:solidFill>
              <a:srgbClr val="DDE5EC"/>
            </a:solidFill>
            <a:prstDash val="solid"/>
          </a:ln>
        </p:spPr>
      </p:sp>
      <p:sp>
        <p:nvSpPr>
          <p:cNvPr id="9" name="Shape 7"/>
          <p:cNvSpPr/>
          <p:nvPr/>
        </p:nvSpPr>
        <p:spPr>
          <a:xfrm>
            <a:off x="749808" y="2884932"/>
            <a:ext cx="502920" cy="502920"/>
          </a:xfrm>
          <a:prstGeom prst="ellipse">
            <a:avLst/>
          </a:prstGeom>
          <a:solidFill>
            <a:srgbClr val="F2A63A"/>
          </a:solidFill>
          <a:ln/>
        </p:spPr>
      </p:sp>
      <p:sp>
        <p:nvSpPr>
          <p:cNvPr id="10" name="Text 8"/>
          <p:cNvSpPr/>
          <p:nvPr/>
        </p:nvSpPr>
        <p:spPr>
          <a:xfrm>
            <a:off x="749808" y="2884932"/>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2</a:t>
            </a:r>
            <a:endParaRPr lang="en-US" sz="1430" dirty="0"/>
          </a:p>
        </p:txBody>
      </p:sp>
      <p:sp>
        <p:nvSpPr>
          <p:cNvPr id="11" name="Text 9"/>
          <p:cNvSpPr/>
          <p:nvPr/>
        </p:nvSpPr>
        <p:spPr>
          <a:xfrm>
            <a:off x="1417320" y="2679192"/>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Reduce deployment troubleshooting time</a:t>
            </a:r>
            <a:endParaRPr lang="en-US" sz="1450" dirty="0"/>
          </a:p>
        </p:txBody>
      </p:sp>
      <p:sp>
        <p:nvSpPr>
          <p:cNvPr id="12" name="Shape 10"/>
          <p:cNvSpPr/>
          <p:nvPr/>
        </p:nvSpPr>
        <p:spPr>
          <a:xfrm>
            <a:off x="548640" y="3758184"/>
            <a:ext cx="5394960" cy="914400"/>
          </a:xfrm>
          <a:prstGeom prst="roundRect">
            <a:avLst>
              <a:gd name="adj" fmla="val 8000"/>
            </a:avLst>
          </a:prstGeom>
          <a:solidFill>
            <a:srgbClr val="FFFFFF"/>
          </a:solidFill>
          <a:ln w="12700">
            <a:solidFill>
              <a:srgbClr val="DDE5EC"/>
            </a:solidFill>
            <a:prstDash val="solid"/>
          </a:ln>
        </p:spPr>
      </p:sp>
      <p:sp>
        <p:nvSpPr>
          <p:cNvPr id="13" name="Shape 11"/>
          <p:cNvSpPr/>
          <p:nvPr/>
        </p:nvSpPr>
        <p:spPr>
          <a:xfrm>
            <a:off x="749808" y="3963924"/>
            <a:ext cx="502920" cy="502920"/>
          </a:xfrm>
          <a:prstGeom prst="ellipse">
            <a:avLst/>
          </a:prstGeom>
          <a:solidFill>
            <a:srgbClr val="0E7C86"/>
          </a:solidFill>
          <a:ln/>
        </p:spPr>
      </p:sp>
      <p:sp>
        <p:nvSpPr>
          <p:cNvPr id="14" name="Text 12"/>
          <p:cNvSpPr/>
          <p:nvPr/>
        </p:nvSpPr>
        <p:spPr>
          <a:xfrm>
            <a:off x="749808" y="396392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3</a:t>
            </a:r>
            <a:endParaRPr lang="en-US" sz="1430" dirty="0"/>
          </a:p>
        </p:txBody>
      </p:sp>
      <p:sp>
        <p:nvSpPr>
          <p:cNvPr id="15" name="Text 13"/>
          <p:cNvSpPr/>
          <p:nvPr/>
        </p:nvSpPr>
        <p:spPr>
          <a:xfrm>
            <a:off x="1417320" y="3758184"/>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Improve deployment visibility</a:t>
            </a:r>
            <a:endParaRPr lang="en-US" sz="1450" dirty="0"/>
          </a:p>
        </p:txBody>
      </p:sp>
      <p:sp>
        <p:nvSpPr>
          <p:cNvPr id="16" name="Shape 14"/>
          <p:cNvSpPr/>
          <p:nvPr/>
        </p:nvSpPr>
        <p:spPr>
          <a:xfrm>
            <a:off x="548640" y="4837176"/>
            <a:ext cx="5394960" cy="914400"/>
          </a:xfrm>
          <a:prstGeom prst="roundRect">
            <a:avLst>
              <a:gd name="adj" fmla="val 8000"/>
            </a:avLst>
          </a:prstGeom>
          <a:solidFill>
            <a:srgbClr val="FFFFFF"/>
          </a:solidFill>
          <a:ln w="12700">
            <a:solidFill>
              <a:srgbClr val="DDE5EC"/>
            </a:solidFill>
            <a:prstDash val="solid"/>
          </a:ln>
        </p:spPr>
      </p:sp>
      <p:sp>
        <p:nvSpPr>
          <p:cNvPr id="17" name="Shape 15"/>
          <p:cNvSpPr/>
          <p:nvPr/>
        </p:nvSpPr>
        <p:spPr>
          <a:xfrm>
            <a:off x="749808" y="5042916"/>
            <a:ext cx="502920" cy="502920"/>
          </a:xfrm>
          <a:prstGeom prst="ellipse">
            <a:avLst/>
          </a:prstGeom>
          <a:solidFill>
            <a:srgbClr val="F2A63A"/>
          </a:solidFill>
          <a:ln/>
        </p:spPr>
      </p:sp>
      <p:sp>
        <p:nvSpPr>
          <p:cNvPr id="18" name="Text 16"/>
          <p:cNvSpPr/>
          <p:nvPr/>
        </p:nvSpPr>
        <p:spPr>
          <a:xfrm>
            <a:off x="749808" y="5042916"/>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4</a:t>
            </a:r>
            <a:endParaRPr lang="en-US" sz="1430" dirty="0"/>
          </a:p>
        </p:txBody>
      </p:sp>
      <p:sp>
        <p:nvSpPr>
          <p:cNvPr id="19" name="Text 17"/>
          <p:cNvSpPr/>
          <p:nvPr/>
        </p:nvSpPr>
        <p:spPr>
          <a:xfrm>
            <a:off x="1417320" y="4837176"/>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Detect failures quickly</a:t>
            </a:r>
            <a:endParaRPr lang="en-US" sz="1450" dirty="0"/>
          </a:p>
        </p:txBody>
      </p:sp>
      <p:sp>
        <p:nvSpPr>
          <p:cNvPr id="20" name="Shape 18"/>
          <p:cNvSpPr/>
          <p:nvPr/>
        </p:nvSpPr>
        <p:spPr>
          <a:xfrm>
            <a:off x="6263640" y="1600200"/>
            <a:ext cx="5394960" cy="914400"/>
          </a:xfrm>
          <a:prstGeom prst="roundRect">
            <a:avLst>
              <a:gd name="adj" fmla="val 8000"/>
            </a:avLst>
          </a:prstGeom>
          <a:solidFill>
            <a:srgbClr val="FFFFFF"/>
          </a:solidFill>
          <a:ln w="12700">
            <a:solidFill>
              <a:srgbClr val="DDE5EC"/>
            </a:solidFill>
            <a:prstDash val="solid"/>
          </a:ln>
        </p:spPr>
      </p:sp>
      <p:sp>
        <p:nvSpPr>
          <p:cNvPr id="21" name="Shape 19"/>
          <p:cNvSpPr/>
          <p:nvPr/>
        </p:nvSpPr>
        <p:spPr>
          <a:xfrm>
            <a:off x="6464808" y="1805940"/>
            <a:ext cx="502920" cy="502920"/>
          </a:xfrm>
          <a:prstGeom prst="ellipse">
            <a:avLst/>
          </a:prstGeom>
          <a:solidFill>
            <a:srgbClr val="0E7C86"/>
          </a:solidFill>
          <a:ln/>
        </p:spPr>
      </p:sp>
      <p:sp>
        <p:nvSpPr>
          <p:cNvPr id="22" name="Text 20"/>
          <p:cNvSpPr/>
          <p:nvPr/>
        </p:nvSpPr>
        <p:spPr>
          <a:xfrm>
            <a:off x="6464808" y="180594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5</a:t>
            </a:r>
            <a:endParaRPr lang="en-US" sz="1430" dirty="0"/>
          </a:p>
        </p:txBody>
      </p:sp>
      <p:sp>
        <p:nvSpPr>
          <p:cNvPr id="23" name="Text 21"/>
          <p:cNvSpPr/>
          <p:nvPr/>
        </p:nvSpPr>
        <p:spPr>
          <a:xfrm>
            <a:off x="7132320" y="1600200"/>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Provide infrastructure monitoring</a:t>
            </a:r>
            <a:endParaRPr lang="en-US" sz="1450" dirty="0"/>
          </a:p>
        </p:txBody>
      </p:sp>
      <p:sp>
        <p:nvSpPr>
          <p:cNvPr id="24" name="Shape 22"/>
          <p:cNvSpPr/>
          <p:nvPr/>
        </p:nvSpPr>
        <p:spPr>
          <a:xfrm>
            <a:off x="6263640" y="2679192"/>
            <a:ext cx="5394960" cy="914400"/>
          </a:xfrm>
          <a:prstGeom prst="roundRect">
            <a:avLst>
              <a:gd name="adj" fmla="val 8000"/>
            </a:avLst>
          </a:prstGeom>
          <a:solidFill>
            <a:srgbClr val="FFFFFF"/>
          </a:solidFill>
          <a:ln w="12700">
            <a:solidFill>
              <a:srgbClr val="DDE5EC"/>
            </a:solidFill>
            <a:prstDash val="solid"/>
          </a:ln>
        </p:spPr>
      </p:sp>
      <p:sp>
        <p:nvSpPr>
          <p:cNvPr id="25" name="Shape 23"/>
          <p:cNvSpPr/>
          <p:nvPr/>
        </p:nvSpPr>
        <p:spPr>
          <a:xfrm>
            <a:off x="6464808" y="2884932"/>
            <a:ext cx="502920" cy="502920"/>
          </a:xfrm>
          <a:prstGeom prst="ellipse">
            <a:avLst/>
          </a:prstGeom>
          <a:solidFill>
            <a:srgbClr val="F2A63A"/>
          </a:solidFill>
          <a:ln/>
        </p:spPr>
      </p:sp>
      <p:sp>
        <p:nvSpPr>
          <p:cNvPr id="26" name="Text 24"/>
          <p:cNvSpPr/>
          <p:nvPr/>
        </p:nvSpPr>
        <p:spPr>
          <a:xfrm>
            <a:off x="6464808" y="2884932"/>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6</a:t>
            </a:r>
            <a:endParaRPr lang="en-US" sz="1430" dirty="0"/>
          </a:p>
        </p:txBody>
      </p:sp>
      <p:sp>
        <p:nvSpPr>
          <p:cNvPr id="27" name="Text 25"/>
          <p:cNvSpPr/>
          <p:nvPr/>
        </p:nvSpPr>
        <p:spPr>
          <a:xfrm>
            <a:off x="7132320" y="2679192"/>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Store deployment history</a:t>
            </a:r>
            <a:endParaRPr lang="en-US" sz="1450" dirty="0"/>
          </a:p>
        </p:txBody>
      </p:sp>
      <p:sp>
        <p:nvSpPr>
          <p:cNvPr id="28" name="Shape 26"/>
          <p:cNvSpPr/>
          <p:nvPr/>
        </p:nvSpPr>
        <p:spPr>
          <a:xfrm>
            <a:off x="6263640" y="3758184"/>
            <a:ext cx="5394960" cy="914400"/>
          </a:xfrm>
          <a:prstGeom prst="roundRect">
            <a:avLst>
              <a:gd name="adj" fmla="val 8000"/>
            </a:avLst>
          </a:prstGeom>
          <a:solidFill>
            <a:srgbClr val="FFFFFF"/>
          </a:solidFill>
          <a:ln w="12700">
            <a:solidFill>
              <a:srgbClr val="DDE5EC"/>
            </a:solidFill>
            <a:prstDash val="solid"/>
          </a:ln>
        </p:spPr>
      </p:sp>
      <p:sp>
        <p:nvSpPr>
          <p:cNvPr id="29" name="Shape 27"/>
          <p:cNvSpPr/>
          <p:nvPr/>
        </p:nvSpPr>
        <p:spPr>
          <a:xfrm>
            <a:off x="6464808" y="3963924"/>
            <a:ext cx="502920" cy="502920"/>
          </a:xfrm>
          <a:prstGeom prst="ellipse">
            <a:avLst/>
          </a:prstGeom>
          <a:solidFill>
            <a:srgbClr val="0E7C86"/>
          </a:solidFill>
          <a:ln/>
        </p:spPr>
      </p:sp>
      <p:sp>
        <p:nvSpPr>
          <p:cNvPr id="30" name="Text 28"/>
          <p:cNvSpPr/>
          <p:nvPr/>
        </p:nvSpPr>
        <p:spPr>
          <a:xfrm>
            <a:off x="6464808" y="396392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7</a:t>
            </a:r>
            <a:endParaRPr lang="en-US" sz="1430" dirty="0"/>
          </a:p>
        </p:txBody>
      </p:sp>
      <p:sp>
        <p:nvSpPr>
          <p:cNvPr id="31" name="Text 29"/>
          <p:cNvSpPr/>
          <p:nvPr/>
        </p:nvSpPr>
        <p:spPr>
          <a:xfrm>
            <a:off x="7132320" y="3758184"/>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Notify users instantly during failures</a:t>
            </a:r>
            <a:endParaRPr lang="en-US" sz="1450" dirty="0"/>
          </a:p>
        </p:txBody>
      </p:sp>
      <p:sp>
        <p:nvSpPr>
          <p:cNvPr id="32" name="Shape 30"/>
          <p:cNvSpPr/>
          <p:nvPr/>
        </p:nvSpPr>
        <p:spPr>
          <a:xfrm>
            <a:off x="6263640" y="4837176"/>
            <a:ext cx="5394960" cy="914400"/>
          </a:xfrm>
          <a:prstGeom prst="roundRect">
            <a:avLst>
              <a:gd name="adj" fmla="val 8000"/>
            </a:avLst>
          </a:prstGeom>
          <a:solidFill>
            <a:srgbClr val="FFFFFF"/>
          </a:solidFill>
          <a:ln w="12700">
            <a:solidFill>
              <a:srgbClr val="DDE5EC"/>
            </a:solidFill>
            <a:prstDash val="solid"/>
          </a:ln>
        </p:spPr>
      </p:sp>
      <p:sp>
        <p:nvSpPr>
          <p:cNvPr id="33" name="Shape 31"/>
          <p:cNvSpPr/>
          <p:nvPr/>
        </p:nvSpPr>
        <p:spPr>
          <a:xfrm>
            <a:off x="6464808" y="5042916"/>
            <a:ext cx="502920" cy="502920"/>
          </a:xfrm>
          <a:prstGeom prst="ellipse">
            <a:avLst/>
          </a:prstGeom>
          <a:solidFill>
            <a:srgbClr val="F2A63A"/>
          </a:solidFill>
          <a:ln/>
        </p:spPr>
      </p:sp>
      <p:sp>
        <p:nvSpPr>
          <p:cNvPr id="34" name="Text 32"/>
          <p:cNvSpPr/>
          <p:nvPr/>
        </p:nvSpPr>
        <p:spPr>
          <a:xfrm>
            <a:off x="6464808" y="5042916"/>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8</a:t>
            </a:r>
            <a:endParaRPr lang="en-US" sz="1430" dirty="0"/>
          </a:p>
        </p:txBody>
      </p:sp>
      <p:sp>
        <p:nvSpPr>
          <p:cNvPr id="35" name="Text 33"/>
          <p:cNvSpPr/>
          <p:nvPr/>
        </p:nvSpPr>
        <p:spPr>
          <a:xfrm>
            <a:off x="7132320" y="4837176"/>
            <a:ext cx="4343400" cy="914400"/>
          </a:xfrm>
          <a:prstGeom prst="rect">
            <a:avLst/>
          </a:prstGeom>
          <a:noFill/>
          <a:ln/>
        </p:spPr>
        <p:txBody>
          <a:bodyPr wrap="square" rtlCol="0" anchor="ctr"/>
          <a:lstStyle/>
          <a:p>
            <a:pPr indent="0" marL="0">
              <a:buNone/>
            </a:pPr>
            <a:r>
              <a:rPr lang="en-US" sz="1450" b="1" dirty="0">
                <a:solidFill>
                  <a:srgbClr val="1A2430"/>
                </a:solidFill>
                <a:latin typeface="Calibri" pitchFamily="34" charset="0"/>
                <a:ea typeface="Calibri" pitchFamily="34" charset="-122"/>
                <a:cs typeface="Calibri" pitchFamily="34" charset="-120"/>
              </a:rPr>
              <a:t>Improve operational efficiency</a:t>
            </a:r>
            <a:endParaRPr lang="en-US" sz="1450" dirty="0"/>
          </a:p>
        </p:txBody>
      </p:sp>
      <p:sp>
        <p:nvSpPr>
          <p:cNvPr id="36" name="Text 34"/>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37" name="Text 3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OVERALL DESCRIPTION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Product Perspective</a:t>
            </a:r>
            <a:endParaRPr lang="en-US" sz="3000" dirty="0"/>
          </a:p>
        </p:txBody>
      </p:sp>
      <p:sp>
        <p:nvSpPr>
          <p:cNvPr id="4" name="Text 2"/>
          <p:cNvSpPr/>
          <p:nvPr/>
        </p:nvSpPr>
        <p:spPr>
          <a:xfrm>
            <a:off x="548640" y="1463040"/>
            <a:ext cx="11064240" cy="1188720"/>
          </a:xfrm>
          <a:prstGeom prst="rect">
            <a:avLst/>
          </a:prstGeom>
          <a:noFill/>
          <a:ln/>
        </p:spPr>
        <p:txBody>
          <a:bodyPr wrap="square" rtlCol="0" anchor="ctr"/>
          <a:lstStyle/>
          <a:p>
            <a:pPr indent="0" marL="0">
              <a:lnSpc>
                <a:spcPct val="130000"/>
              </a:lnSpc>
              <a:buNone/>
            </a:pPr>
            <a:r>
              <a:rPr lang="en-US" sz="1500" dirty="0">
                <a:solidFill>
                  <a:srgbClr val="1A2430"/>
                </a:solidFill>
                <a:latin typeface="Calibri" pitchFamily="34" charset="0"/>
                <a:ea typeface="Calibri" pitchFamily="34" charset="-122"/>
                <a:cs typeface="Calibri" pitchFamily="34" charset="-120"/>
              </a:rPr>
              <a:t>CloudPulse is a web-based monitoring application that integrates with existing DevOps tools instead of replacing them. It receives deployment information from Jenkins and AWS services, stores operational data inside DynamoDB, visualizes infrastructure metrics using Grafana, and displays all information through a unified React dashboard.</a:t>
            </a:r>
            <a:endParaRPr lang="en-US" sz="1500" dirty="0"/>
          </a:p>
        </p:txBody>
      </p:sp>
      <p:sp>
        <p:nvSpPr>
          <p:cNvPr id="5" name="Shape 3"/>
          <p:cNvSpPr/>
          <p:nvPr/>
        </p:nvSpPr>
        <p:spPr>
          <a:xfrm>
            <a:off x="676656" y="3063240"/>
            <a:ext cx="2331720" cy="1371600"/>
          </a:xfrm>
          <a:prstGeom prst="roundRect">
            <a:avLst>
              <a:gd name="adj" fmla="val 6667"/>
            </a:avLst>
          </a:prstGeom>
          <a:solidFill>
            <a:srgbClr val="12233F"/>
          </a:solidFill>
          <a:ln/>
        </p:spPr>
      </p:sp>
      <p:sp>
        <p:nvSpPr>
          <p:cNvPr id="6" name="Text 4"/>
          <p:cNvSpPr/>
          <p:nvPr/>
        </p:nvSpPr>
        <p:spPr>
          <a:xfrm>
            <a:off x="676656" y="3063240"/>
            <a:ext cx="2331720" cy="13716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Jenkins + AWS</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Sources</a:t>
            </a:r>
            <a:endParaRPr lang="en-US" sz="1500" dirty="0"/>
          </a:p>
        </p:txBody>
      </p:sp>
      <p:sp>
        <p:nvSpPr>
          <p:cNvPr id="7" name="Text 5"/>
          <p:cNvSpPr/>
          <p:nvPr/>
        </p:nvSpPr>
        <p:spPr>
          <a:xfrm>
            <a:off x="3008376" y="3063240"/>
            <a:ext cx="502920" cy="1371600"/>
          </a:xfrm>
          <a:prstGeom prst="rect">
            <a:avLst/>
          </a:prstGeom>
          <a:noFill/>
          <a:ln/>
        </p:spPr>
        <p:txBody>
          <a:bodyPr wrap="square" rtlCol="0" anchor="ctr"/>
          <a:lstStyle/>
          <a:p>
            <a:pPr algn="ctr" indent="0" marL="0">
              <a:buNone/>
            </a:pPr>
            <a:r>
              <a:rPr lang="en-US" sz="2600" b="1" dirty="0">
                <a:solidFill>
                  <a:srgbClr val="5B6B7C"/>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11296" y="3063240"/>
            <a:ext cx="2331720" cy="1371600"/>
          </a:xfrm>
          <a:prstGeom prst="roundRect">
            <a:avLst>
              <a:gd name="adj" fmla="val 6667"/>
            </a:avLst>
          </a:prstGeom>
          <a:solidFill>
            <a:srgbClr val="12233F"/>
          </a:solidFill>
          <a:ln/>
        </p:spPr>
      </p:sp>
      <p:sp>
        <p:nvSpPr>
          <p:cNvPr id="9" name="Text 7"/>
          <p:cNvSpPr/>
          <p:nvPr/>
        </p:nvSpPr>
        <p:spPr>
          <a:xfrm>
            <a:off x="3511296" y="3063240"/>
            <a:ext cx="2331720" cy="13716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DynamoDB</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Storage</a:t>
            </a:r>
            <a:endParaRPr lang="en-US" sz="1500" dirty="0"/>
          </a:p>
        </p:txBody>
      </p:sp>
      <p:sp>
        <p:nvSpPr>
          <p:cNvPr id="10" name="Text 8"/>
          <p:cNvSpPr/>
          <p:nvPr/>
        </p:nvSpPr>
        <p:spPr>
          <a:xfrm>
            <a:off x="5843016" y="3063240"/>
            <a:ext cx="502920" cy="1371600"/>
          </a:xfrm>
          <a:prstGeom prst="rect">
            <a:avLst/>
          </a:prstGeom>
          <a:noFill/>
          <a:ln/>
        </p:spPr>
        <p:txBody>
          <a:bodyPr wrap="square" rtlCol="0" anchor="ctr"/>
          <a:lstStyle/>
          <a:p>
            <a:pPr algn="ctr" indent="0" marL="0">
              <a:buNone/>
            </a:pPr>
            <a:r>
              <a:rPr lang="en-US" sz="2600" b="1" dirty="0">
                <a:solidFill>
                  <a:srgbClr val="5B6B7C"/>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6345936" y="3063240"/>
            <a:ext cx="2331720" cy="1371600"/>
          </a:xfrm>
          <a:prstGeom prst="roundRect">
            <a:avLst>
              <a:gd name="adj" fmla="val 6667"/>
            </a:avLst>
          </a:prstGeom>
          <a:solidFill>
            <a:srgbClr val="12233F"/>
          </a:solidFill>
          <a:ln/>
        </p:spPr>
      </p:sp>
      <p:sp>
        <p:nvSpPr>
          <p:cNvPr id="12" name="Text 10"/>
          <p:cNvSpPr/>
          <p:nvPr/>
        </p:nvSpPr>
        <p:spPr>
          <a:xfrm>
            <a:off x="6345936" y="3063240"/>
            <a:ext cx="2331720" cy="13716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Grafana</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Visualization</a:t>
            </a:r>
            <a:endParaRPr lang="en-US" sz="1500" dirty="0"/>
          </a:p>
        </p:txBody>
      </p:sp>
      <p:sp>
        <p:nvSpPr>
          <p:cNvPr id="13" name="Text 11"/>
          <p:cNvSpPr/>
          <p:nvPr/>
        </p:nvSpPr>
        <p:spPr>
          <a:xfrm>
            <a:off x="8677656" y="3063240"/>
            <a:ext cx="502920" cy="1371600"/>
          </a:xfrm>
          <a:prstGeom prst="rect">
            <a:avLst/>
          </a:prstGeom>
          <a:noFill/>
          <a:ln/>
        </p:spPr>
        <p:txBody>
          <a:bodyPr wrap="square" rtlCol="0" anchor="ctr"/>
          <a:lstStyle/>
          <a:p>
            <a:pPr algn="ctr" indent="0" marL="0">
              <a:buNone/>
            </a:pPr>
            <a:r>
              <a:rPr lang="en-US" sz="2600" b="1" dirty="0">
                <a:solidFill>
                  <a:srgbClr val="5B6B7C"/>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9180576" y="3063240"/>
            <a:ext cx="2331720" cy="1371600"/>
          </a:xfrm>
          <a:prstGeom prst="roundRect">
            <a:avLst>
              <a:gd name="adj" fmla="val 6667"/>
            </a:avLst>
          </a:prstGeom>
          <a:solidFill>
            <a:srgbClr val="F2A63A"/>
          </a:solidFill>
          <a:ln/>
        </p:spPr>
      </p:sp>
      <p:sp>
        <p:nvSpPr>
          <p:cNvPr id="15" name="Text 13"/>
          <p:cNvSpPr/>
          <p:nvPr/>
        </p:nvSpPr>
        <p:spPr>
          <a:xfrm>
            <a:off x="9180576" y="3063240"/>
            <a:ext cx="2331720" cy="1371600"/>
          </a:xfrm>
          <a:prstGeom prst="rect">
            <a:avLst/>
          </a:prstGeom>
          <a:noFill/>
          <a:ln/>
        </p:spPr>
        <p:txBody>
          <a:bodyPr wrap="square" rtlCol="0" anchor="ctr"/>
          <a:lstStyle/>
          <a:p>
            <a:pPr algn="ctr" indent="0" marL="0">
              <a:buNone/>
            </a:pPr>
            <a:r>
              <a:rPr lang="en-US" sz="1500" b="1" dirty="0">
                <a:solidFill>
                  <a:srgbClr val="12233F"/>
                </a:solidFill>
                <a:latin typeface="Cambria" pitchFamily="34" charset="0"/>
                <a:ea typeface="Cambria" pitchFamily="34" charset="-122"/>
                <a:cs typeface="Cambria" pitchFamily="34" charset="-120"/>
              </a:rPr>
              <a:t>React</a:t>
            </a:r>
            <a:endParaRPr lang="en-US" sz="1500" dirty="0"/>
          </a:p>
          <a:p>
            <a:pPr algn="ctr" indent="0" marL="0">
              <a:buNone/>
            </a:pPr>
            <a:r>
              <a:rPr lang="en-US" sz="1500" b="1" dirty="0">
                <a:solidFill>
                  <a:srgbClr val="12233F"/>
                </a:solidFill>
                <a:latin typeface="Cambria" pitchFamily="34" charset="0"/>
                <a:ea typeface="Cambria" pitchFamily="34" charset="-122"/>
                <a:cs typeface="Cambria" pitchFamily="34" charset="-120"/>
              </a:rPr>
              <a:t>Dashboard</a:t>
            </a:r>
            <a:endParaRPr lang="en-US" sz="1500" dirty="0"/>
          </a:p>
        </p:txBody>
      </p:sp>
      <p:sp>
        <p:nvSpPr>
          <p:cNvPr id="16" name="Text 14"/>
          <p:cNvSpPr/>
          <p:nvPr/>
        </p:nvSpPr>
        <p:spPr>
          <a:xfrm>
            <a:off x="548640" y="4892040"/>
            <a:ext cx="10972800" cy="457200"/>
          </a:xfrm>
          <a:prstGeom prst="rect">
            <a:avLst/>
          </a:prstGeom>
          <a:noFill/>
          <a:ln/>
        </p:spPr>
        <p:txBody>
          <a:bodyPr wrap="square" rtlCol="0" anchor="ctr"/>
          <a:lstStyle/>
          <a:p>
            <a:pPr algn="ctr" indent="0" marL="0">
              <a:buNone/>
            </a:pPr>
            <a:r>
              <a:rPr lang="en-US" sz="1300" i="1" dirty="0">
                <a:solidFill>
                  <a:srgbClr val="5B6B7C"/>
                </a:solidFill>
                <a:latin typeface="Calibri" pitchFamily="34" charset="0"/>
                <a:ea typeface="Calibri" pitchFamily="34" charset="-122"/>
                <a:cs typeface="Calibri" pitchFamily="34" charset="-120"/>
              </a:rPr>
              <a:t>Existing tools stay in place — CloudPulse layers observability on top, it does not replace Jenkins or AWS services.</a:t>
            </a:r>
            <a:endParaRPr lang="en-US" sz="1300" dirty="0"/>
          </a:p>
        </p:txBody>
      </p:sp>
      <p:sp>
        <p:nvSpPr>
          <p:cNvPr id="17" name="Text 15"/>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18" name="Text 16"/>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OVERALL DESCRIPTION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Product Features</a:t>
            </a:r>
            <a:endParaRPr lang="en-US" sz="3000" dirty="0"/>
          </a:p>
        </p:txBody>
      </p:sp>
      <p:sp>
        <p:nvSpPr>
          <p:cNvPr id="4" name="Shape 2"/>
          <p:cNvSpPr/>
          <p:nvPr/>
        </p:nvSpPr>
        <p:spPr>
          <a:xfrm>
            <a:off x="548640" y="1508760"/>
            <a:ext cx="2651760" cy="1417320"/>
          </a:xfrm>
          <a:prstGeom prst="roundRect">
            <a:avLst>
              <a:gd name="adj" fmla="val 5161"/>
            </a:avLst>
          </a:prstGeom>
          <a:solidFill>
            <a:srgbClr val="EEF3F6"/>
          </a:solidFill>
          <a:ln/>
        </p:spPr>
      </p:sp>
      <p:sp>
        <p:nvSpPr>
          <p:cNvPr id="5" name="Shape 3"/>
          <p:cNvSpPr/>
          <p:nvPr/>
        </p:nvSpPr>
        <p:spPr>
          <a:xfrm>
            <a:off x="694944" y="1655064"/>
            <a:ext cx="329184" cy="329184"/>
          </a:xfrm>
          <a:prstGeom prst="roundRect">
            <a:avLst>
              <a:gd name="adj" fmla="val 16667"/>
            </a:avLst>
          </a:prstGeom>
          <a:solidFill>
            <a:srgbClr val="0E7C86"/>
          </a:solidFill>
          <a:ln/>
        </p:spPr>
      </p:sp>
      <p:sp>
        <p:nvSpPr>
          <p:cNvPr id="6" name="Text 4"/>
          <p:cNvSpPr/>
          <p:nvPr/>
        </p:nvSpPr>
        <p:spPr>
          <a:xfrm>
            <a:off x="694944" y="165506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94944" y="2057400"/>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Dashboard Overview</a:t>
            </a:r>
            <a:endParaRPr lang="en-US" sz="1300" dirty="0"/>
          </a:p>
        </p:txBody>
      </p:sp>
      <p:sp>
        <p:nvSpPr>
          <p:cNvPr id="8" name="Text 6"/>
          <p:cNvSpPr/>
          <p:nvPr/>
        </p:nvSpPr>
        <p:spPr>
          <a:xfrm>
            <a:off x="694944" y="2423160"/>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System health, active deployments, success rate</a:t>
            </a:r>
            <a:endParaRPr lang="en-US" sz="1050" dirty="0"/>
          </a:p>
        </p:txBody>
      </p:sp>
      <p:sp>
        <p:nvSpPr>
          <p:cNvPr id="9" name="Shape 7"/>
          <p:cNvSpPr/>
          <p:nvPr/>
        </p:nvSpPr>
        <p:spPr>
          <a:xfrm>
            <a:off x="3355848" y="1508760"/>
            <a:ext cx="2651760" cy="1417320"/>
          </a:xfrm>
          <a:prstGeom prst="roundRect">
            <a:avLst>
              <a:gd name="adj" fmla="val 5161"/>
            </a:avLst>
          </a:prstGeom>
          <a:solidFill>
            <a:srgbClr val="EEF3F6"/>
          </a:solidFill>
          <a:ln/>
        </p:spPr>
      </p:sp>
      <p:sp>
        <p:nvSpPr>
          <p:cNvPr id="10" name="Shape 8"/>
          <p:cNvSpPr/>
          <p:nvPr/>
        </p:nvSpPr>
        <p:spPr>
          <a:xfrm>
            <a:off x="3502152" y="1655064"/>
            <a:ext cx="329184" cy="329184"/>
          </a:xfrm>
          <a:prstGeom prst="roundRect">
            <a:avLst>
              <a:gd name="adj" fmla="val 16667"/>
            </a:avLst>
          </a:prstGeom>
          <a:solidFill>
            <a:srgbClr val="0E7C86"/>
          </a:solidFill>
          <a:ln/>
        </p:spPr>
      </p:sp>
      <p:sp>
        <p:nvSpPr>
          <p:cNvPr id="11" name="Text 9"/>
          <p:cNvSpPr/>
          <p:nvPr/>
        </p:nvSpPr>
        <p:spPr>
          <a:xfrm>
            <a:off x="3502152" y="165506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502152" y="2057400"/>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Pipeline Monitoring</a:t>
            </a:r>
            <a:endParaRPr lang="en-US" sz="1300" dirty="0"/>
          </a:p>
        </p:txBody>
      </p:sp>
      <p:sp>
        <p:nvSpPr>
          <p:cNvPr id="13" name="Text 11"/>
          <p:cNvSpPr/>
          <p:nvPr/>
        </p:nvSpPr>
        <p:spPr>
          <a:xfrm>
            <a:off x="3502152" y="2423160"/>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Stage, status, progress, duration, latency</a:t>
            </a:r>
            <a:endParaRPr lang="en-US" sz="1050" dirty="0"/>
          </a:p>
        </p:txBody>
      </p:sp>
      <p:sp>
        <p:nvSpPr>
          <p:cNvPr id="14" name="Shape 12"/>
          <p:cNvSpPr/>
          <p:nvPr/>
        </p:nvSpPr>
        <p:spPr>
          <a:xfrm>
            <a:off x="6163056" y="1508760"/>
            <a:ext cx="2651760" cy="1417320"/>
          </a:xfrm>
          <a:prstGeom prst="roundRect">
            <a:avLst>
              <a:gd name="adj" fmla="val 5161"/>
            </a:avLst>
          </a:prstGeom>
          <a:solidFill>
            <a:srgbClr val="EEF3F6"/>
          </a:solidFill>
          <a:ln/>
        </p:spPr>
      </p:sp>
      <p:sp>
        <p:nvSpPr>
          <p:cNvPr id="15" name="Shape 13"/>
          <p:cNvSpPr/>
          <p:nvPr/>
        </p:nvSpPr>
        <p:spPr>
          <a:xfrm>
            <a:off x="6309360" y="1655064"/>
            <a:ext cx="329184" cy="329184"/>
          </a:xfrm>
          <a:prstGeom prst="roundRect">
            <a:avLst>
              <a:gd name="adj" fmla="val 16667"/>
            </a:avLst>
          </a:prstGeom>
          <a:solidFill>
            <a:srgbClr val="0E7C86"/>
          </a:solidFill>
          <a:ln/>
        </p:spPr>
      </p:sp>
      <p:sp>
        <p:nvSpPr>
          <p:cNvPr id="16" name="Text 14"/>
          <p:cNvSpPr/>
          <p:nvPr/>
        </p:nvSpPr>
        <p:spPr>
          <a:xfrm>
            <a:off x="6309360" y="165506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309360" y="2057400"/>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Build Monitoring</a:t>
            </a:r>
            <a:endParaRPr lang="en-US" sz="1300" dirty="0"/>
          </a:p>
        </p:txBody>
      </p:sp>
      <p:sp>
        <p:nvSpPr>
          <p:cNvPr id="18" name="Text 16"/>
          <p:cNvSpPr/>
          <p:nvPr/>
        </p:nvSpPr>
        <p:spPr>
          <a:xfrm>
            <a:off x="6309360" y="2423160"/>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Build status, logs, result, artifacts</a:t>
            </a:r>
            <a:endParaRPr lang="en-US" sz="1050" dirty="0"/>
          </a:p>
        </p:txBody>
      </p:sp>
      <p:sp>
        <p:nvSpPr>
          <p:cNvPr id="19" name="Shape 17"/>
          <p:cNvSpPr/>
          <p:nvPr/>
        </p:nvSpPr>
        <p:spPr>
          <a:xfrm>
            <a:off x="8970264" y="1508760"/>
            <a:ext cx="2651760" cy="1417320"/>
          </a:xfrm>
          <a:prstGeom prst="roundRect">
            <a:avLst>
              <a:gd name="adj" fmla="val 5161"/>
            </a:avLst>
          </a:prstGeom>
          <a:solidFill>
            <a:srgbClr val="EEF3F6"/>
          </a:solidFill>
          <a:ln/>
        </p:spPr>
      </p:sp>
      <p:sp>
        <p:nvSpPr>
          <p:cNvPr id="20" name="Shape 18"/>
          <p:cNvSpPr/>
          <p:nvPr/>
        </p:nvSpPr>
        <p:spPr>
          <a:xfrm>
            <a:off x="9116568" y="1655064"/>
            <a:ext cx="329184" cy="329184"/>
          </a:xfrm>
          <a:prstGeom prst="roundRect">
            <a:avLst>
              <a:gd name="adj" fmla="val 16667"/>
            </a:avLst>
          </a:prstGeom>
          <a:solidFill>
            <a:srgbClr val="0E7C86"/>
          </a:solidFill>
          <a:ln/>
        </p:spPr>
      </p:sp>
      <p:sp>
        <p:nvSpPr>
          <p:cNvPr id="21" name="Text 19"/>
          <p:cNvSpPr/>
          <p:nvPr/>
        </p:nvSpPr>
        <p:spPr>
          <a:xfrm>
            <a:off x="9116568" y="165506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116568" y="2057400"/>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Deployment Monitoring</a:t>
            </a:r>
            <a:endParaRPr lang="en-US" sz="1300" dirty="0"/>
          </a:p>
        </p:txBody>
      </p:sp>
      <p:sp>
        <p:nvSpPr>
          <p:cNvPr id="23" name="Text 21"/>
          <p:cNvSpPr/>
          <p:nvPr/>
        </p:nvSpPr>
        <p:spPr>
          <a:xfrm>
            <a:off x="9116568" y="2423160"/>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Progress, duration, latency, result</a:t>
            </a:r>
            <a:endParaRPr lang="en-US" sz="1050" dirty="0"/>
          </a:p>
        </p:txBody>
      </p:sp>
      <p:sp>
        <p:nvSpPr>
          <p:cNvPr id="24" name="Shape 22"/>
          <p:cNvSpPr/>
          <p:nvPr/>
        </p:nvSpPr>
        <p:spPr>
          <a:xfrm>
            <a:off x="548640" y="3090672"/>
            <a:ext cx="2651760" cy="1417320"/>
          </a:xfrm>
          <a:prstGeom prst="roundRect">
            <a:avLst>
              <a:gd name="adj" fmla="val 5161"/>
            </a:avLst>
          </a:prstGeom>
          <a:solidFill>
            <a:srgbClr val="EEF3F6"/>
          </a:solidFill>
          <a:ln/>
        </p:spPr>
      </p:sp>
      <p:sp>
        <p:nvSpPr>
          <p:cNvPr id="25" name="Shape 23"/>
          <p:cNvSpPr/>
          <p:nvPr/>
        </p:nvSpPr>
        <p:spPr>
          <a:xfrm>
            <a:off x="694944" y="3236976"/>
            <a:ext cx="329184" cy="329184"/>
          </a:xfrm>
          <a:prstGeom prst="roundRect">
            <a:avLst>
              <a:gd name="adj" fmla="val 16667"/>
            </a:avLst>
          </a:prstGeom>
          <a:solidFill>
            <a:srgbClr val="0E7C86"/>
          </a:solidFill>
          <a:ln/>
        </p:spPr>
      </p:sp>
      <p:sp>
        <p:nvSpPr>
          <p:cNvPr id="26" name="Text 24"/>
          <p:cNvSpPr/>
          <p:nvPr/>
        </p:nvSpPr>
        <p:spPr>
          <a:xfrm>
            <a:off x="694944" y="323697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694944" y="3639312"/>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Infrastructure Monitoring</a:t>
            </a:r>
            <a:endParaRPr lang="en-US" sz="1300" dirty="0"/>
          </a:p>
        </p:txBody>
      </p:sp>
      <p:sp>
        <p:nvSpPr>
          <p:cNvPr id="28" name="Text 26"/>
          <p:cNvSpPr/>
          <p:nvPr/>
        </p:nvSpPr>
        <p:spPr>
          <a:xfrm>
            <a:off x="694944" y="4005072"/>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CPU, memory, disk, network via Grafana</a:t>
            </a:r>
            <a:endParaRPr lang="en-US" sz="1050" dirty="0"/>
          </a:p>
        </p:txBody>
      </p:sp>
      <p:sp>
        <p:nvSpPr>
          <p:cNvPr id="29" name="Shape 27"/>
          <p:cNvSpPr/>
          <p:nvPr/>
        </p:nvSpPr>
        <p:spPr>
          <a:xfrm>
            <a:off x="3355848" y="3090672"/>
            <a:ext cx="2651760" cy="1417320"/>
          </a:xfrm>
          <a:prstGeom prst="roundRect">
            <a:avLst>
              <a:gd name="adj" fmla="val 5161"/>
            </a:avLst>
          </a:prstGeom>
          <a:solidFill>
            <a:srgbClr val="EEF3F6"/>
          </a:solidFill>
          <a:ln/>
        </p:spPr>
      </p:sp>
      <p:sp>
        <p:nvSpPr>
          <p:cNvPr id="30" name="Shape 28"/>
          <p:cNvSpPr/>
          <p:nvPr/>
        </p:nvSpPr>
        <p:spPr>
          <a:xfrm>
            <a:off x="3502152" y="3236976"/>
            <a:ext cx="329184" cy="329184"/>
          </a:xfrm>
          <a:prstGeom prst="roundRect">
            <a:avLst>
              <a:gd name="adj" fmla="val 16667"/>
            </a:avLst>
          </a:prstGeom>
          <a:solidFill>
            <a:srgbClr val="0E7C86"/>
          </a:solidFill>
          <a:ln/>
        </p:spPr>
      </p:sp>
      <p:sp>
        <p:nvSpPr>
          <p:cNvPr id="31" name="Text 29"/>
          <p:cNvSpPr/>
          <p:nvPr/>
        </p:nvSpPr>
        <p:spPr>
          <a:xfrm>
            <a:off x="3502152" y="323697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3502152" y="3639312"/>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Failure Analysis</a:t>
            </a:r>
            <a:endParaRPr lang="en-US" sz="1300" dirty="0"/>
          </a:p>
        </p:txBody>
      </p:sp>
      <p:sp>
        <p:nvSpPr>
          <p:cNvPr id="33" name="Text 31"/>
          <p:cNvSpPr/>
          <p:nvPr/>
        </p:nvSpPr>
        <p:spPr>
          <a:xfrm>
            <a:off x="3502152" y="4005072"/>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Failed stage, error, severity, resolution</a:t>
            </a:r>
            <a:endParaRPr lang="en-US" sz="1050" dirty="0"/>
          </a:p>
        </p:txBody>
      </p:sp>
      <p:sp>
        <p:nvSpPr>
          <p:cNvPr id="34" name="Shape 32"/>
          <p:cNvSpPr/>
          <p:nvPr/>
        </p:nvSpPr>
        <p:spPr>
          <a:xfrm>
            <a:off x="6163056" y="3090672"/>
            <a:ext cx="2651760" cy="1417320"/>
          </a:xfrm>
          <a:prstGeom prst="roundRect">
            <a:avLst>
              <a:gd name="adj" fmla="val 5161"/>
            </a:avLst>
          </a:prstGeom>
          <a:solidFill>
            <a:srgbClr val="EEF3F6"/>
          </a:solidFill>
          <a:ln/>
        </p:spPr>
      </p:sp>
      <p:sp>
        <p:nvSpPr>
          <p:cNvPr id="35" name="Shape 33"/>
          <p:cNvSpPr/>
          <p:nvPr/>
        </p:nvSpPr>
        <p:spPr>
          <a:xfrm>
            <a:off x="6309360" y="3236976"/>
            <a:ext cx="329184" cy="329184"/>
          </a:xfrm>
          <a:prstGeom prst="roundRect">
            <a:avLst>
              <a:gd name="adj" fmla="val 16667"/>
            </a:avLst>
          </a:prstGeom>
          <a:solidFill>
            <a:srgbClr val="0E7C86"/>
          </a:solidFill>
          <a:ln/>
        </p:spPr>
      </p:sp>
      <p:sp>
        <p:nvSpPr>
          <p:cNvPr id="36" name="Text 34"/>
          <p:cNvSpPr/>
          <p:nvPr/>
        </p:nvSpPr>
        <p:spPr>
          <a:xfrm>
            <a:off x="6309360" y="323697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p:nvPr/>
        </p:nvSpPr>
        <p:spPr>
          <a:xfrm>
            <a:off x="6309360" y="3639312"/>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Deployment History</a:t>
            </a:r>
            <a:endParaRPr lang="en-US" sz="1300" dirty="0"/>
          </a:p>
        </p:txBody>
      </p:sp>
      <p:sp>
        <p:nvSpPr>
          <p:cNvPr id="38" name="Text 36"/>
          <p:cNvSpPr/>
          <p:nvPr/>
        </p:nvSpPr>
        <p:spPr>
          <a:xfrm>
            <a:off x="6309360" y="4005072"/>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Version, branch, commit, timestamp</a:t>
            </a:r>
            <a:endParaRPr lang="en-US" sz="1050" dirty="0"/>
          </a:p>
        </p:txBody>
      </p:sp>
      <p:sp>
        <p:nvSpPr>
          <p:cNvPr id="39" name="Shape 37"/>
          <p:cNvSpPr/>
          <p:nvPr/>
        </p:nvSpPr>
        <p:spPr>
          <a:xfrm>
            <a:off x="8970264" y="3090672"/>
            <a:ext cx="2651760" cy="1417320"/>
          </a:xfrm>
          <a:prstGeom prst="roundRect">
            <a:avLst>
              <a:gd name="adj" fmla="val 5161"/>
            </a:avLst>
          </a:prstGeom>
          <a:solidFill>
            <a:srgbClr val="EEF3F6"/>
          </a:solidFill>
          <a:ln/>
        </p:spPr>
      </p:sp>
      <p:sp>
        <p:nvSpPr>
          <p:cNvPr id="40" name="Shape 38"/>
          <p:cNvSpPr/>
          <p:nvPr/>
        </p:nvSpPr>
        <p:spPr>
          <a:xfrm>
            <a:off x="9116568" y="3236976"/>
            <a:ext cx="329184" cy="329184"/>
          </a:xfrm>
          <a:prstGeom prst="roundRect">
            <a:avLst>
              <a:gd name="adj" fmla="val 16667"/>
            </a:avLst>
          </a:prstGeom>
          <a:solidFill>
            <a:srgbClr val="0E7C86"/>
          </a:solidFill>
          <a:ln/>
        </p:spPr>
      </p:sp>
      <p:sp>
        <p:nvSpPr>
          <p:cNvPr id="41" name="Text 39"/>
          <p:cNvSpPr/>
          <p:nvPr/>
        </p:nvSpPr>
        <p:spPr>
          <a:xfrm>
            <a:off x="9116568" y="323697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p:nvPr/>
        </p:nvSpPr>
        <p:spPr>
          <a:xfrm>
            <a:off x="9116568" y="3639312"/>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Activity Timeline</a:t>
            </a:r>
            <a:endParaRPr lang="en-US" sz="1300" dirty="0"/>
          </a:p>
        </p:txBody>
      </p:sp>
      <p:sp>
        <p:nvSpPr>
          <p:cNvPr id="43" name="Text 41"/>
          <p:cNvSpPr/>
          <p:nvPr/>
        </p:nvSpPr>
        <p:spPr>
          <a:xfrm>
            <a:off x="9116568" y="4005072"/>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Chronological DevOps event log</a:t>
            </a:r>
            <a:endParaRPr lang="en-US" sz="1050" dirty="0"/>
          </a:p>
        </p:txBody>
      </p:sp>
      <p:sp>
        <p:nvSpPr>
          <p:cNvPr id="44" name="Shape 42"/>
          <p:cNvSpPr/>
          <p:nvPr/>
        </p:nvSpPr>
        <p:spPr>
          <a:xfrm>
            <a:off x="548640" y="4672584"/>
            <a:ext cx="2651760" cy="1417320"/>
          </a:xfrm>
          <a:prstGeom prst="roundRect">
            <a:avLst>
              <a:gd name="adj" fmla="val 5161"/>
            </a:avLst>
          </a:prstGeom>
          <a:solidFill>
            <a:srgbClr val="EEF3F6"/>
          </a:solidFill>
          <a:ln/>
        </p:spPr>
      </p:sp>
      <p:sp>
        <p:nvSpPr>
          <p:cNvPr id="45" name="Shape 43"/>
          <p:cNvSpPr/>
          <p:nvPr/>
        </p:nvSpPr>
        <p:spPr>
          <a:xfrm>
            <a:off x="694944" y="4818888"/>
            <a:ext cx="329184" cy="329184"/>
          </a:xfrm>
          <a:prstGeom prst="roundRect">
            <a:avLst>
              <a:gd name="adj" fmla="val 16667"/>
            </a:avLst>
          </a:prstGeom>
          <a:solidFill>
            <a:srgbClr val="0E7C86"/>
          </a:solidFill>
          <a:ln/>
        </p:spPr>
      </p:sp>
      <p:sp>
        <p:nvSpPr>
          <p:cNvPr id="46" name="Text 44"/>
          <p:cNvSpPr/>
          <p:nvPr/>
        </p:nvSpPr>
        <p:spPr>
          <a:xfrm>
            <a:off x="694944" y="4818888"/>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7" name="Text 45"/>
          <p:cNvSpPr/>
          <p:nvPr/>
        </p:nvSpPr>
        <p:spPr>
          <a:xfrm>
            <a:off x="694944" y="5221224"/>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Notification Center</a:t>
            </a:r>
            <a:endParaRPr lang="en-US" sz="1300" dirty="0"/>
          </a:p>
        </p:txBody>
      </p:sp>
      <p:sp>
        <p:nvSpPr>
          <p:cNvPr id="48" name="Text 46"/>
          <p:cNvSpPr/>
          <p:nvPr/>
        </p:nvSpPr>
        <p:spPr>
          <a:xfrm>
            <a:off x="694944" y="5586984"/>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Email, Slack, Teams, SMS via n8n</a:t>
            </a:r>
            <a:endParaRPr lang="en-US" sz="1050" dirty="0"/>
          </a:p>
        </p:txBody>
      </p:sp>
      <p:sp>
        <p:nvSpPr>
          <p:cNvPr id="49" name="Shape 47"/>
          <p:cNvSpPr/>
          <p:nvPr/>
        </p:nvSpPr>
        <p:spPr>
          <a:xfrm>
            <a:off x="3355848" y="4672584"/>
            <a:ext cx="2651760" cy="1417320"/>
          </a:xfrm>
          <a:prstGeom prst="roundRect">
            <a:avLst>
              <a:gd name="adj" fmla="val 5161"/>
            </a:avLst>
          </a:prstGeom>
          <a:solidFill>
            <a:srgbClr val="EEF3F6"/>
          </a:solidFill>
          <a:ln/>
        </p:spPr>
      </p:sp>
      <p:sp>
        <p:nvSpPr>
          <p:cNvPr id="50" name="Shape 48"/>
          <p:cNvSpPr/>
          <p:nvPr/>
        </p:nvSpPr>
        <p:spPr>
          <a:xfrm>
            <a:off x="3502152" y="4818888"/>
            <a:ext cx="329184" cy="329184"/>
          </a:xfrm>
          <a:prstGeom prst="roundRect">
            <a:avLst>
              <a:gd name="adj" fmla="val 16667"/>
            </a:avLst>
          </a:prstGeom>
          <a:solidFill>
            <a:srgbClr val="0E7C86"/>
          </a:solidFill>
          <a:ln/>
        </p:spPr>
      </p:sp>
      <p:sp>
        <p:nvSpPr>
          <p:cNvPr id="51" name="Text 49"/>
          <p:cNvSpPr/>
          <p:nvPr/>
        </p:nvSpPr>
        <p:spPr>
          <a:xfrm>
            <a:off x="3502152" y="4818888"/>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2" name="Text 50"/>
          <p:cNvSpPr/>
          <p:nvPr/>
        </p:nvSpPr>
        <p:spPr>
          <a:xfrm>
            <a:off x="3502152" y="5221224"/>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Logs</a:t>
            </a:r>
            <a:endParaRPr lang="en-US" sz="1300" dirty="0"/>
          </a:p>
        </p:txBody>
      </p:sp>
      <p:sp>
        <p:nvSpPr>
          <p:cNvPr id="53" name="Text 51"/>
          <p:cNvSpPr/>
          <p:nvPr/>
        </p:nvSpPr>
        <p:spPr>
          <a:xfrm>
            <a:off x="3502152" y="5586984"/>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Jenkins, CloudWatch, CodeDeploy, Lambda</a:t>
            </a:r>
            <a:endParaRPr lang="en-US" sz="1050" dirty="0"/>
          </a:p>
        </p:txBody>
      </p:sp>
      <p:sp>
        <p:nvSpPr>
          <p:cNvPr id="54" name="Shape 52"/>
          <p:cNvSpPr/>
          <p:nvPr/>
        </p:nvSpPr>
        <p:spPr>
          <a:xfrm>
            <a:off x="6163056" y="4672584"/>
            <a:ext cx="2651760" cy="1417320"/>
          </a:xfrm>
          <a:prstGeom prst="roundRect">
            <a:avLst>
              <a:gd name="adj" fmla="val 5161"/>
            </a:avLst>
          </a:prstGeom>
          <a:solidFill>
            <a:srgbClr val="EEF3F6"/>
          </a:solidFill>
          <a:ln/>
        </p:spPr>
      </p:sp>
      <p:sp>
        <p:nvSpPr>
          <p:cNvPr id="55" name="Shape 53"/>
          <p:cNvSpPr/>
          <p:nvPr/>
        </p:nvSpPr>
        <p:spPr>
          <a:xfrm>
            <a:off x="6309360" y="4818888"/>
            <a:ext cx="329184" cy="329184"/>
          </a:xfrm>
          <a:prstGeom prst="roundRect">
            <a:avLst>
              <a:gd name="adj" fmla="val 16667"/>
            </a:avLst>
          </a:prstGeom>
          <a:solidFill>
            <a:srgbClr val="0E7C86"/>
          </a:solidFill>
          <a:ln/>
        </p:spPr>
      </p:sp>
      <p:sp>
        <p:nvSpPr>
          <p:cNvPr id="56" name="Text 54"/>
          <p:cNvSpPr/>
          <p:nvPr/>
        </p:nvSpPr>
        <p:spPr>
          <a:xfrm>
            <a:off x="6309360" y="4818888"/>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7" name="Text 55"/>
          <p:cNvSpPr/>
          <p:nvPr/>
        </p:nvSpPr>
        <p:spPr>
          <a:xfrm>
            <a:off x="6309360" y="5221224"/>
            <a:ext cx="2359152" cy="365760"/>
          </a:xfrm>
          <a:prstGeom prst="rect">
            <a:avLst/>
          </a:prstGeom>
          <a:noFill/>
          <a:ln/>
        </p:spPr>
        <p:txBody>
          <a:bodyPr wrap="square" rtlCol="0" anchor="ctr"/>
          <a:lstStyle/>
          <a:p>
            <a:pPr indent="0" marL="0">
              <a:buNone/>
            </a:pPr>
            <a:r>
              <a:rPr lang="en-US" sz="1300" b="1" dirty="0">
                <a:solidFill>
                  <a:srgbClr val="12233F"/>
                </a:solidFill>
                <a:latin typeface="Cambria" pitchFamily="34" charset="0"/>
                <a:ea typeface="Cambria" pitchFamily="34" charset="-122"/>
                <a:cs typeface="Cambria" pitchFamily="34" charset="-120"/>
              </a:rPr>
              <a:t>Analytics</a:t>
            </a:r>
            <a:endParaRPr lang="en-US" sz="1300" dirty="0"/>
          </a:p>
        </p:txBody>
      </p:sp>
      <p:sp>
        <p:nvSpPr>
          <p:cNvPr id="58" name="Text 56"/>
          <p:cNvSpPr/>
          <p:nvPr/>
        </p:nvSpPr>
        <p:spPr>
          <a:xfrm>
            <a:off x="6309360" y="5586984"/>
            <a:ext cx="2359152" cy="457200"/>
          </a:xfrm>
          <a:prstGeom prst="rect">
            <a:avLst/>
          </a:prstGeom>
          <a:noFill/>
          <a:ln/>
        </p:spPr>
        <p:txBody>
          <a:bodyPr wrap="square" rtlCol="0" anchor="ctr"/>
          <a:lstStyle/>
          <a:p>
            <a:pPr indent="0" marL="0">
              <a:lnSpc>
                <a:spcPct val="105000"/>
              </a:lnSpc>
              <a:buNone/>
            </a:pPr>
            <a:r>
              <a:rPr lang="en-US" sz="1050" dirty="0">
                <a:solidFill>
                  <a:srgbClr val="5B6B7C"/>
                </a:solidFill>
                <a:latin typeface="Calibri" pitchFamily="34" charset="0"/>
                <a:ea typeface="Calibri" pitchFamily="34" charset="-122"/>
                <a:cs typeface="Calibri" pitchFamily="34" charset="-120"/>
              </a:rPr>
              <a:t>Frequency, success/failure rate, avg times</a:t>
            </a:r>
            <a:endParaRPr lang="en-US" sz="1050" dirty="0"/>
          </a:p>
        </p:txBody>
      </p:sp>
      <p:sp>
        <p:nvSpPr>
          <p:cNvPr id="59" name="Text 57"/>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60" name="Text 5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End-to-End Data Flow</a:t>
            </a:r>
            <a:endParaRPr lang="en-US" sz="3000" dirty="0"/>
          </a:p>
        </p:txBody>
      </p:sp>
      <p:sp>
        <p:nvSpPr>
          <p:cNvPr id="4" name="Shape 2"/>
          <p:cNvSpPr/>
          <p:nvPr/>
        </p:nvSpPr>
        <p:spPr>
          <a:xfrm>
            <a:off x="827532" y="1600200"/>
            <a:ext cx="1572768" cy="566928"/>
          </a:xfrm>
          <a:prstGeom prst="roundRect">
            <a:avLst>
              <a:gd name="adj" fmla="val 11290"/>
            </a:avLst>
          </a:prstGeom>
          <a:solidFill>
            <a:srgbClr val="12233F"/>
          </a:solidFill>
          <a:ln/>
        </p:spPr>
      </p:sp>
      <p:sp>
        <p:nvSpPr>
          <p:cNvPr id="5" name="Text 3"/>
          <p:cNvSpPr/>
          <p:nvPr/>
        </p:nvSpPr>
        <p:spPr>
          <a:xfrm>
            <a:off x="827532" y="1600200"/>
            <a:ext cx="157276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Developer</a:t>
            </a:r>
            <a:endParaRPr lang="en-US" sz="1150" dirty="0"/>
          </a:p>
        </p:txBody>
      </p:sp>
      <p:sp>
        <p:nvSpPr>
          <p:cNvPr id="6" name="Text 4"/>
          <p:cNvSpPr/>
          <p:nvPr/>
        </p:nvSpPr>
        <p:spPr>
          <a:xfrm>
            <a:off x="2400300" y="1316736"/>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619756" y="1600200"/>
            <a:ext cx="1572768" cy="566928"/>
          </a:xfrm>
          <a:prstGeom prst="roundRect">
            <a:avLst>
              <a:gd name="adj" fmla="val 11290"/>
            </a:avLst>
          </a:prstGeom>
          <a:solidFill>
            <a:srgbClr val="12233F"/>
          </a:solidFill>
          <a:ln/>
        </p:spPr>
      </p:sp>
      <p:sp>
        <p:nvSpPr>
          <p:cNvPr id="8" name="Text 6"/>
          <p:cNvSpPr/>
          <p:nvPr/>
        </p:nvSpPr>
        <p:spPr>
          <a:xfrm>
            <a:off x="2619756" y="1600200"/>
            <a:ext cx="157276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GitHub</a:t>
            </a:r>
            <a:endParaRPr lang="en-US" sz="1150" dirty="0"/>
          </a:p>
        </p:txBody>
      </p:sp>
      <p:sp>
        <p:nvSpPr>
          <p:cNvPr id="9" name="Text 7"/>
          <p:cNvSpPr/>
          <p:nvPr/>
        </p:nvSpPr>
        <p:spPr>
          <a:xfrm>
            <a:off x="4192524" y="1316736"/>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4411980" y="1600200"/>
            <a:ext cx="1572768" cy="566928"/>
          </a:xfrm>
          <a:prstGeom prst="roundRect">
            <a:avLst>
              <a:gd name="adj" fmla="val 11290"/>
            </a:avLst>
          </a:prstGeom>
          <a:solidFill>
            <a:srgbClr val="12233F"/>
          </a:solidFill>
          <a:ln/>
        </p:spPr>
      </p:sp>
      <p:sp>
        <p:nvSpPr>
          <p:cNvPr id="11" name="Text 9"/>
          <p:cNvSpPr/>
          <p:nvPr/>
        </p:nvSpPr>
        <p:spPr>
          <a:xfrm>
            <a:off x="4411980" y="1600200"/>
            <a:ext cx="157276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Jenkins</a:t>
            </a:r>
            <a:endParaRPr lang="en-US" sz="1150" dirty="0"/>
          </a:p>
        </p:txBody>
      </p:sp>
      <p:sp>
        <p:nvSpPr>
          <p:cNvPr id="12" name="Text 10"/>
          <p:cNvSpPr/>
          <p:nvPr/>
        </p:nvSpPr>
        <p:spPr>
          <a:xfrm>
            <a:off x="5984748" y="1316736"/>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6204204" y="1600200"/>
            <a:ext cx="1572768" cy="566928"/>
          </a:xfrm>
          <a:prstGeom prst="roundRect">
            <a:avLst>
              <a:gd name="adj" fmla="val 11290"/>
            </a:avLst>
          </a:prstGeom>
          <a:solidFill>
            <a:srgbClr val="12233F"/>
          </a:solidFill>
          <a:ln/>
        </p:spPr>
      </p:sp>
      <p:sp>
        <p:nvSpPr>
          <p:cNvPr id="14" name="Text 12"/>
          <p:cNvSpPr/>
          <p:nvPr/>
        </p:nvSpPr>
        <p:spPr>
          <a:xfrm>
            <a:off x="6204204" y="1600200"/>
            <a:ext cx="157276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CodeDeploy</a:t>
            </a:r>
            <a:endParaRPr lang="en-US" sz="1150" dirty="0"/>
          </a:p>
        </p:txBody>
      </p:sp>
      <p:sp>
        <p:nvSpPr>
          <p:cNvPr id="15" name="Text 13"/>
          <p:cNvSpPr/>
          <p:nvPr/>
        </p:nvSpPr>
        <p:spPr>
          <a:xfrm>
            <a:off x="7776972" y="1316736"/>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996428" y="1600200"/>
            <a:ext cx="1572768" cy="566928"/>
          </a:xfrm>
          <a:prstGeom prst="roundRect">
            <a:avLst>
              <a:gd name="adj" fmla="val 11290"/>
            </a:avLst>
          </a:prstGeom>
          <a:solidFill>
            <a:srgbClr val="12233F"/>
          </a:solidFill>
          <a:ln/>
        </p:spPr>
      </p:sp>
      <p:sp>
        <p:nvSpPr>
          <p:cNvPr id="17" name="Text 15"/>
          <p:cNvSpPr/>
          <p:nvPr/>
        </p:nvSpPr>
        <p:spPr>
          <a:xfrm>
            <a:off x="7996428" y="1600200"/>
            <a:ext cx="157276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EC2</a:t>
            </a:r>
            <a:endParaRPr lang="en-US" sz="1150" dirty="0"/>
          </a:p>
        </p:txBody>
      </p:sp>
      <p:sp>
        <p:nvSpPr>
          <p:cNvPr id="18" name="Text 16"/>
          <p:cNvSpPr/>
          <p:nvPr/>
        </p:nvSpPr>
        <p:spPr>
          <a:xfrm>
            <a:off x="9569196" y="1316736"/>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788652" y="1600200"/>
            <a:ext cx="1572768" cy="566928"/>
          </a:xfrm>
          <a:prstGeom prst="roundRect">
            <a:avLst>
              <a:gd name="adj" fmla="val 11290"/>
            </a:avLst>
          </a:prstGeom>
          <a:solidFill>
            <a:srgbClr val="0E7C86"/>
          </a:solidFill>
          <a:ln/>
        </p:spPr>
      </p:sp>
      <p:sp>
        <p:nvSpPr>
          <p:cNvPr id="20" name="Text 18"/>
          <p:cNvSpPr/>
          <p:nvPr/>
        </p:nvSpPr>
        <p:spPr>
          <a:xfrm>
            <a:off x="9788652" y="1600200"/>
            <a:ext cx="157276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CloudWatch</a:t>
            </a:r>
            <a:endParaRPr lang="en-US" sz="1150" dirty="0"/>
          </a:p>
        </p:txBody>
      </p:sp>
      <p:sp>
        <p:nvSpPr>
          <p:cNvPr id="21" name="Shape 19"/>
          <p:cNvSpPr/>
          <p:nvPr/>
        </p:nvSpPr>
        <p:spPr>
          <a:xfrm>
            <a:off x="9797796" y="2670048"/>
            <a:ext cx="1554480" cy="502920"/>
          </a:xfrm>
          <a:prstGeom prst="roundRect">
            <a:avLst>
              <a:gd name="adj" fmla="val 12727"/>
            </a:avLst>
          </a:prstGeom>
          <a:solidFill>
            <a:srgbClr val="F2A63A"/>
          </a:solidFill>
          <a:ln/>
        </p:spPr>
      </p:sp>
      <p:sp>
        <p:nvSpPr>
          <p:cNvPr id="22" name="Text 20"/>
          <p:cNvSpPr/>
          <p:nvPr/>
        </p:nvSpPr>
        <p:spPr>
          <a:xfrm>
            <a:off x="9797796" y="2670048"/>
            <a:ext cx="1554480" cy="502920"/>
          </a:xfrm>
          <a:prstGeom prst="rect">
            <a:avLst/>
          </a:prstGeom>
          <a:noFill/>
          <a:ln/>
        </p:spPr>
        <p:txBody>
          <a:bodyPr wrap="square" rtlCol="0" anchor="ctr"/>
          <a:lstStyle/>
          <a:p>
            <a:pPr algn="ctr" indent="0" marL="0">
              <a:buNone/>
            </a:pPr>
            <a:r>
              <a:rPr lang="en-US" sz="1150" b="1" dirty="0">
                <a:solidFill>
                  <a:srgbClr val="12233F"/>
                </a:solidFill>
                <a:latin typeface="Cambria" pitchFamily="34" charset="0"/>
                <a:ea typeface="Cambria" pitchFamily="34" charset="-122"/>
                <a:cs typeface="Cambria" pitchFamily="34" charset="-120"/>
              </a:rPr>
              <a:t>Grafana</a:t>
            </a:r>
            <a:endParaRPr lang="en-US" sz="1150" dirty="0"/>
          </a:p>
        </p:txBody>
      </p:sp>
      <p:sp>
        <p:nvSpPr>
          <p:cNvPr id="23" name="Shape 21"/>
          <p:cNvSpPr/>
          <p:nvPr/>
        </p:nvSpPr>
        <p:spPr>
          <a:xfrm>
            <a:off x="10575036" y="2167128"/>
            <a:ext cx="0" cy="502920"/>
          </a:xfrm>
          <a:prstGeom prst="line">
            <a:avLst/>
          </a:prstGeom>
          <a:noFill/>
          <a:ln w="15875">
            <a:solidFill>
              <a:srgbClr val="5B6B7C"/>
            </a:solidFill>
            <a:prstDash val="dash"/>
          </a:ln>
        </p:spPr>
      </p:sp>
      <p:sp>
        <p:nvSpPr>
          <p:cNvPr id="24" name="Text 22"/>
          <p:cNvSpPr/>
          <p:nvPr/>
        </p:nvSpPr>
        <p:spPr>
          <a:xfrm>
            <a:off x="10346436" y="3246120"/>
            <a:ext cx="457200" cy="292608"/>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1037844" y="3584448"/>
            <a:ext cx="1847088" cy="566928"/>
          </a:xfrm>
          <a:prstGeom prst="roundRect">
            <a:avLst>
              <a:gd name="adj" fmla="val 11290"/>
            </a:avLst>
          </a:prstGeom>
          <a:solidFill>
            <a:srgbClr val="0E7C86"/>
          </a:solidFill>
          <a:ln/>
        </p:spPr>
      </p:sp>
      <p:sp>
        <p:nvSpPr>
          <p:cNvPr id="26" name="Text 24"/>
          <p:cNvSpPr/>
          <p:nvPr/>
        </p:nvSpPr>
        <p:spPr>
          <a:xfrm>
            <a:off x="1037844" y="3584448"/>
            <a:ext cx="184708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EventBridge</a:t>
            </a:r>
            <a:endParaRPr lang="en-US" sz="1150" dirty="0"/>
          </a:p>
        </p:txBody>
      </p:sp>
      <p:sp>
        <p:nvSpPr>
          <p:cNvPr id="27" name="Text 25"/>
          <p:cNvSpPr/>
          <p:nvPr/>
        </p:nvSpPr>
        <p:spPr>
          <a:xfrm>
            <a:off x="2884932" y="3300984"/>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3104388" y="3584448"/>
            <a:ext cx="1847088" cy="566928"/>
          </a:xfrm>
          <a:prstGeom prst="roundRect">
            <a:avLst>
              <a:gd name="adj" fmla="val 11290"/>
            </a:avLst>
          </a:prstGeom>
          <a:solidFill>
            <a:srgbClr val="0E7C86"/>
          </a:solidFill>
          <a:ln/>
        </p:spPr>
      </p:sp>
      <p:sp>
        <p:nvSpPr>
          <p:cNvPr id="29" name="Text 27"/>
          <p:cNvSpPr/>
          <p:nvPr/>
        </p:nvSpPr>
        <p:spPr>
          <a:xfrm>
            <a:off x="3104388" y="3584448"/>
            <a:ext cx="184708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Lambda</a:t>
            </a:r>
            <a:endParaRPr lang="en-US" sz="1150" dirty="0"/>
          </a:p>
        </p:txBody>
      </p:sp>
      <p:sp>
        <p:nvSpPr>
          <p:cNvPr id="30" name="Text 28"/>
          <p:cNvSpPr/>
          <p:nvPr/>
        </p:nvSpPr>
        <p:spPr>
          <a:xfrm>
            <a:off x="4951476" y="3300984"/>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5170932" y="3584448"/>
            <a:ext cx="1847088" cy="566928"/>
          </a:xfrm>
          <a:prstGeom prst="roundRect">
            <a:avLst>
              <a:gd name="adj" fmla="val 11290"/>
            </a:avLst>
          </a:prstGeom>
          <a:solidFill>
            <a:srgbClr val="0E7C86"/>
          </a:solidFill>
          <a:ln/>
        </p:spPr>
      </p:sp>
      <p:sp>
        <p:nvSpPr>
          <p:cNvPr id="32" name="Text 30"/>
          <p:cNvSpPr/>
          <p:nvPr/>
        </p:nvSpPr>
        <p:spPr>
          <a:xfrm>
            <a:off x="5170932" y="3584448"/>
            <a:ext cx="184708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DynamoDB</a:t>
            </a:r>
            <a:endParaRPr lang="en-US" sz="1150" dirty="0"/>
          </a:p>
        </p:txBody>
      </p:sp>
      <p:sp>
        <p:nvSpPr>
          <p:cNvPr id="33" name="Text 31"/>
          <p:cNvSpPr/>
          <p:nvPr/>
        </p:nvSpPr>
        <p:spPr>
          <a:xfrm>
            <a:off x="7018020" y="3300984"/>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34" name="Shape 32"/>
          <p:cNvSpPr/>
          <p:nvPr/>
        </p:nvSpPr>
        <p:spPr>
          <a:xfrm>
            <a:off x="7237476" y="3584448"/>
            <a:ext cx="1847088" cy="566928"/>
          </a:xfrm>
          <a:prstGeom prst="roundRect">
            <a:avLst>
              <a:gd name="adj" fmla="val 11290"/>
            </a:avLst>
          </a:prstGeom>
          <a:solidFill>
            <a:srgbClr val="0E7C86"/>
          </a:solidFill>
          <a:ln/>
        </p:spPr>
      </p:sp>
      <p:sp>
        <p:nvSpPr>
          <p:cNvPr id="35" name="Text 33"/>
          <p:cNvSpPr/>
          <p:nvPr/>
        </p:nvSpPr>
        <p:spPr>
          <a:xfrm>
            <a:off x="7237476" y="3584448"/>
            <a:ext cx="184708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React Dashboard</a:t>
            </a:r>
            <a:endParaRPr lang="en-US" sz="1150" dirty="0"/>
          </a:p>
        </p:txBody>
      </p:sp>
      <p:sp>
        <p:nvSpPr>
          <p:cNvPr id="36" name="Text 34"/>
          <p:cNvSpPr/>
          <p:nvPr/>
        </p:nvSpPr>
        <p:spPr>
          <a:xfrm>
            <a:off x="9084564" y="3300984"/>
            <a:ext cx="219456" cy="548640"/>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37" name="Shape 35"/>
          <p:cNvSpPr/>
          <p:nvPr/>
        </p:nvSpPr>
        <p:spPr>
          <a:xfrm>
            <a:off x="9304020" y="3584448"/>
            <a:ext cx="1847088" cy="566928"/>
          </a:xfrm>
          <a:prstGeom prst="roundRect">
            <a:avLst>
              <a:gd name="adj" fmla="val 11290"/>
            </a:avLst>
          </a:prstGeom>
          <a:solidFill>
            <a:srgbClr val="0E7C86"/>
          </a:solidFill>
          <a:ln/>
        </p:spPr>
      </p:sp>
      <p:sp>
        <p:nvSpPr>
          <p:cNvPr id="38" name="Text 36"/>
          <p:cNvSpPr/>
          <p:nvPr/>
        </p:nvSpPr>
        <p:spPr>
          <a:xfrm>
            <a:off x="9304020" y="3584448"/>
            <a:ext cx="1847088" cy="566928"/>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n8n</a:t>
            </a:r>
            <a:endParaRPr lang="en-US" sz="1150" dirty="0"/>
          </a:p>
        </p:txBody>
      </p:sp>
      <p:sp>
        <p:nvSpPr>
          <p:cNvPr id="39" name="Text 37"/>
          <p:cNvSpPr/>
          <p:nvPr/>
        </p:nvSpPr>
        <p:spPr>
          <a:xfrm>
            <a:off x="9998964" y="4654296"/>
            <a:ext cx="457200" cy="292608"/>
          </a:xfrm>
          <a:prstGeom prst="rect">
            <a:avLst/>
          </a:prstGeom>
          <a:noFill/>
          <a:ln/>
        </p:spPr>
        <p:txBody>
          <a:bodyPr wrap="square" rtlCol="0" anchor="ctr"/>
          <a:lstStyle/>
          <a:p>
            <a:pPr algn="ctr" indent="0" marL="0">
              <a:buNone/>
            </a:pPr>
            <a:r>
              <a:rPr lang="en-US" sz="1800" b="1" dirty="0">
                <a:solidFill>
                  <a:srgbClr val="5B6B7C"/>
                </a:solidFill>
                <a:latin typeface="Calibri" pitchFamily="34" charset="0"/>
                <a:ea typeface="Calibri" pitchFamily="34" charset="-122"/>
                <a:cs typeface="Calibri" pitchFamily="34" charset="-120"/>
              </a:rPr>
              <a:t>↓</a:t>
            </a:r>
            <a:endParaRPr lang="en-US" sz="1800" dirty="0"/>
          </a:p>
        </p:txBody>
      </p:sp>
      <p:sp>
        <p:nvSpPr>
          <p:cNvPr id="40" name="Shape 38"/>
          <p:cNvSpPr/>
          <p:nvPr/>
        </p:nvSpPr>
        <p:spPr>
          <a:xfrm>
            <a:off x="2482596" y="5020056"/>
            <a:ext cx="1600200" cy="502920"/>
          </a:xfrm>
          <a:prstGeom prst="roundRect">
            <a:avLst>
              <a:gd name="adj" fmla="val 12727"/>
            </a:avLst>
          </a:prstGeom>
          <a:solidFill>
            <a:srgbClr val="F2A63A"/>
          </a:solidFill>
          <a:ln/>
        </p:spPr>
      </p:sp>
      <p:sp>
        <p:nvSpPr>
          <p:cNvPr id="41" name="Text 39"/>
          <p:cNvSpPr/>
          <p:nvPr/>
        </p:nvSpPr>
        <p:spPr>
          <a:xfrm>
            <a:off x="2482596" y="5020056"/>
            <a:ext cx="1600200" cy="502920"/>
          </a:xfrm>
          <a:prstGeom prst="rect">
            <a:avLst/>
          </a:prstGeom>
          <a:noFill/>
          <a:ln/>
        </p:spPr>
        <p:txBody>
          <a:bodyPr wrap="square" rtlCol="0" anchor="ctr"/>
          <a:lstStyle/>
          <a:p>
            <a:pPr algn="ctr" indent="0" marL="0">
              <a:buNone/>
            </a:pPr>
            <a:r>
              <a:rPr lang="en-US" sz="1150" b="1" dirty="0">
                <a:solidFill>
                  <a:srgbClr val="12233F"/>
                </a:solidFill>
                <a:latin typeface="Cambria" pitchFamily="34" charset="0"/>
                <a:ea typeface="Cambria" pitchFamily="34" charset="-122"/>
                <a:cs typeface="Cambria" pitchFamily="34" charset="-120"/>
              </a:rPr>
              <a:t>Email</a:t>
            </a:r>
            <a:endParaRPr lang="en-US" sz="1150" dirty="0"/>
          </a:p>
        </p:txBody>
      </p:sp>
      <p:sp>
        <p:nvSpPr>
          <p:cNvPr id="42" name="Shape 40"/>
          <p:cNvSpPr/>
          <p:nvPr/>
        </p:nvSpPr>
        <p:spPr>
          <a:xfrm>
            <a:off x="4357116" y="5020056"/>
            <a:ext cx="1600200" cy="502920"/>
          </a:xfrm>
          <a:prstGeom prst="roundRect">
            <a:avLst>
              <a:gd name="adj" fmla="val 12727"/>
            </a:avLst>
          </a:prstGeom>
          <a:solidFill>
            <a:srgbClr val="F2A63A"/>
          </a:solidFill>
          <a:ln/>
        </p:spPr>
      </p:sp>
      <p:sp>
        <p:nvSpPr>
          <p:cNvPr id="43" name="Text 41"/>
          <p:cNvSpPr/>
          <p:nvPr/>
        </p:nvSpPr>
        <p:spPr>
          <a:xfrm>
            <a:off x="4357116" y="5020056"/>
            <a:ext cx="1600200" cy="502920"/>
          </a:xfrm>
          <a:prstGeom prst="rect">
            <a:avLst/>
          </a:prstGeom>
          <a:noFill/>
          <a:ln/>
        </p:spPr>
        <p:txBody>
          <a:bodyPr wrap="square" rtlCol="0" anchor="ctr"/>
          <a:lstStyle/>
          <a:p>
            <a:pPr algn="ctr" indent="0" marL="0">
              <a:buNone/>
            </a:pPr>
            <a:r>
              <a:rPr lang="en-US" sz="1150" b="1" dirty="0">
                <a:solidFill>
                  <a:srgbClr val="12233F"/>
                </a:solidFill>
                <a:latin typeface="Cambria" pitchFamily="34" charset="0"/>
                <a:ea typeface="Cambria" pitchFamily="34" charset="-122"/>
                <a:cs typeface="Cambria" pitchFamily="34" charset="-120"/>
              </a:rPr>
              <a:t>Slack</a:t>
            </a:r>
            <a:endParaRPr lang="en-US" sz="1150" dirty="0"/>
          </a:p>
        </p:txBody>
      </p:sp>
      <p:sp>
        <p:nvSpPr>
          <p:cNvPr id="44" name="Shape 42"/>
          <p:cNvSpPr/>
          <p:nvPr/>
        </p:nvSpPr>
        <p:spPr>
          <a:xfrm>
            <a:off x="6231636" y="5020056"/>
            <a:ext cx="1600200" cy="502920"/>
          </a:xfrm>
          <a:prstGeom prst="roundRect">
            <a:avLst>
              <a:gd name="adj" fmla="val 12727"/>
            </a:avLst>
          </a:prstGeom>
          <a:solidFill>
            <a:srgbClr val="F2A63A"/>
          </a:solidFill>
          <a:ln/>
        </p:spPr>
      </p:sp>
      <p:sp>
        <p:nvSpPr>
          <p:cNvPr id="45" name="Text 43"/>
          <p:cNvSpPr/>
          <p:nvPr/>
        </p:nvSpPr>
        <p:spPr>
          <a:xfrm>
            <a:off x="6231636" y="5020056"/>
            <a:ext cx="1600200" cy="502920"/>
          </a:xfrm>
          <a:prstGeom prst="rect">
            <a:avLst/>
          </a:prstGeom>
          <a:noFill/>
          <a:ln/>
        </p:spPr>
        <p:txBody>
          <a:bodyPr wrap="square" rtlCol="0" anchor="ctr"/>
          <a:lstStyle/>
          <a:p>
            <a:pPr algn="ctr" indent="0" marL="0">
              <a:buNone/>
            </a:pPr>
            <a:r>
              <a:rPr lang="en-US" sz="1150" b="1" dirty="0">
                <a:solidFill>
                  <a:srgbClr val="12233F"/>
                </a:solidFill>
                <a:latin typeface="Cambria" pitchFamily="34" charset="0"/>
                <a:ea typeface="Cambria" pitchFamily="34" charset="-122"/>
                <a:cs typeface="Cambria" pitchFamily="34" charset="-120"/>
              </a:rPr>
              <a:t>Teams</a:t>
            </a:r>
            <a:endParaRPr lang="en-US" sz="1150" dirty="0"/>
          </a:p>
        </p:txBody>
      </p:sp>
      <p:sp>
        <p:nvSpPr>
          <p:cNvPr id="46" name="Shape 44"/>
          <p:cNvSpPr/>
          <p:nvPr/>
        </p:nvSpPr>
        <p:spPr>
          <a:xfrm>
            <a:off x="8106156" y="5020056"/>
            <a:ext cx="1600200" cy="502920"/>
          </a:xfrm>
          <a:prstGeom prst="roundRect">
            <a:avLst>
              <a:gd name="adj" fmla="val 12727"/>
            </a:avLst>
          </a:prstGeom>
          <a:solidFill>
            <a:srgbClr val="F2A63A"/>
          </a:solidFill>
          <a:ln/>
        </p:spPr>
      </p:sp>
      <p:sp>
        <p:nvSpPr>
          <p:cNvPr id="47" name="Text 45"/>
          <p:cNvSpPr/>
          <p:nvPr/>
        </p:nvSpPr>
        <p:spPr>
          <a:xfrm>
            <a:off x="8106156" y="5020056"/>
            <a:ext cx="1600200" cy="502920"/>
          </a:xfrm>
          <a:prstGeom prst="rect">
            <a:avLst/>
          </a:prstGeom>
          <a:noFill/>
          <a:ln/>
        </p:spPr>
        <p:txBody>
          <a:bodyPr wrap="square" rtlCol="0" anchor="ctr"/>
          <a:lstStyle/>
          <a:p>
            <a:pPr algn="ctr" indent="0" marL="0">
              <a:buNone/>
            </a:pPr>
            <a:r>
              <a:rPr lang="en-US" sz="1150" b="1" dirty="0">
                <a:solidFill>
                  <a:srgbClr val="12233F"/>
                </a:solidFill>
                <a:latin typeface="Cambria" pitchFamily="34" charset="0"/>
                <a:ea typeface="Cambria" pitchFamily="34" charset="-122"/>
                <a:cs typeface="Cambria" pitchFamily="34" charset="-120"/>
              </a:rPr>
              <a:t>SMS</a:t>
            </a:r>
            <a:endParaRPr lang="en-US" sz="1150" dirty="0"/>
          </a:p>
        </p:txBody>
      </p:sp>
      <p:sp>
        <p:nvSpPr>
          <p:cNvPr id="48" name="Text 46"/>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49" name="Text 47"/>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OVERALL DESCRIPTION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User Classes</a:t>
            </a:r>
            <a:endParaRPr lang="en-US" sz="3000" dirty="0"/>
          </a:p>
        </p:txBody>
      </p:sp>
      <p:sp>
        <p:nvSpPr>
          <p:cNvPr id="4" name="Shape 2"/>
          <p:cNvSpPr/>
          <p:nvPr/>
        </p:nvSpPr>
        <p:spPr>
          <a:xfrm>
            <a:off x="493776" y="1600200"/>
            <a:ext cx="3520440" cy="4114800"/>
          </a:xfrm>
          <a:prstGeom prst="roundRect">
            <a:avLst>
              <a:gd name="adj" fmla="val 2597"/>
            </a:avLst>
          </a:prstGeom>
          <a:solidFill>
            <a:srgbClr val="0E7C86"/>
          </a:solidFill>
          <a:ln/>
        </p:spPr>
      </p:sp>
      <p:sp>
        <p:nvSpPr>
          <p:cNvPr id="5" name="Shape 3"/>
          <p:cNvSpPr/>
          <p:nvPr/>
        </p:nvSpPr>
        <p:spPr>
          <a:xfrm>
            <a:off x="813816" y="1965960"/>
            <a:ext cx="640080" cy="640080"/>
          </a:xfrm>
          <a:prstGeom prst="ellipse">
            <a:avLst/>
          </a:prstGeom>
          <a:solidFill>
            <a:srgbClr val="FFFFFF"/>
          </a:solidFill>
          <a:ln/>
        </p:spPr>
      </p:sp>
      <p:sp>
        <p:nvSpPr>
          <p:cNvPr id="6" name="Text 4"/>
          <p:cNvSpPr/>
          <p:nvPr/>
        </p:nvSpPr>
        <p:spPr>
          <a:xfrm>
            <a:off x="813816" y="1965960"/>
            <a:ext cx="640080" cy="640080"/>
          </a:xfrm>
          <a:prstGeom prst="rect">
            <a:avLst/>
          </a:prstGeom>
          <a:noFill/>
          <a:ln/>
        </p:spPr>
        <p:txBody>
          <a:bodyPr wrap="square"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813816" y="2788920"/>
            <a:ext cx="2880360" cy="6400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DevOps Engineer</a:t>
            </a:r>
            <a:endParaRPr lang="en-US" sz="1800" dirty="0"/>
          </a:p>
        </p:txBody>
      </p:sp>
      <p:sp>
        <p:nvSpPr>
          <p:cNvPr id="8" name="Shape 6"/>
          <p:cNvSpPr/>
          <p:nvPr/>
        </p:nvSpPr>
        <p:spPr>
          <a:xfrm>
            <a:off x="813816" y="3712464"/>
            <a:ext cx="109728" cy="109728"/>
          </a:xfrm>
          <a:prstGeom prst="ellipse">
            <a:avLst/>
          </a:prstGeom>
          <a:solidFill>
            <a:srgbClr val="F2A63A"/>
          </a:solidFill>
          <a:ln/>
        </p:spPr>
      </p:sp>
      <p:sp>
        <p:nvSpPr>
          <p:cNvPr id="9" name="Text 7"/>
          <p:cNvSpPr/>
          <p:nvPr/>
        </p:nvSpPr>
        <p:spPr>
          <a:xfrm>
            <a:off x="1060704" y="3566160"/>
            <a:ext cx="2606040" cy="411480"/>
          </a:xfrm>
          <a:prstGeom prst="rect">
            <a:avLst/>
          </a:prstGeom>
          <a:noFill/>
          <a:ln/>
        </p:spPr>
        <p:txBody>
          <a:bodyPr wrap="square" rtlCol="0" anchor="ctr"/>
          <a:lstStyle/>
          <a:p>
            <a:pPr indent="0" marL="0">
              <a:buNone/>
            </a:pPr>
            <a:r>
              <a:rPr lang="en-US" sz="1300" dirty="0">
                <a:solidFill>
                  <a:srgbClr val="E7EEF4"/>
                </a:solidFill>
                <a:latin typeface="Calibri" pitchFamily="34" charset="0"/>
                <a:ea typeface="Calibri" pitchFamily="34" charset="-122"/>
                <a:cs typeface="Calibri" pitchFamily="34" charset="-120"/>
              </a:rPr>
              <a:t>Monitor pipelines</a:t>
            </a:r>
            <a:endParaRPr lang="en-US" sz="1300" dirty="0"/>
          </a:p>
        </p:txBody>
      </p:sp>
      <p:sp>
        <p:nvSpPr>
          <p:cNvPr id="10" name="Shape 8"/>
          <p:cNvSpPr/>
          <p:nvPr/>
        </p:nvSpPr>
        <p:spPr>
          <a:xfrm>
            <a:off x="813816" y="4215384"/>
            <a:ext cx="109728" cy="109728"/>
          </a:xfrm>
          <a:prstGeom prst="ellipse">
            <a:avLst/>
          </a:prstGeom>
          <a:solidFill>
            <a:srgbClr val="F2A63A"/>
          </a:solidFill>
          <a:ln/>
        </p:spPr>
      </p:sp>
      <p:sp>
        <p:nvSpPr>
          <p:cNvPr id="11" name="Text 9"/>
          <p:cNvSpPr/>
          <p:nvPr/>
        </p:nvSpPr>
        <p:spPr>
          <a:xfrm>
            <a:off x="1060704" y="4069080"/>
            <a:ext cx="2606040" cy="411480"/>
          </a:xfrm>
          <a:prstGeom prst="rect">
            <a:avLst/>
          </a:prstGeom>
          <a:noFill/>
          <a:ln/>
        </p:spPr>
        <p:txBody>
          <a:bodyPr wrap="square" rtlCol="0" anchor="ctr"/>
          <a:lstStyle/>
          <a:p>
            <a:pPr indent="0" marL="0">
              <a:buNone/>
            </a:pPr>
            <a:r>
              <a:rPr lang="en-US" sz="1300" dirty="0">
                <a:solidFill>
                  <a:srgbClr val="E7EEF4"/>
                </a:solidFill>
                <a:latin typeface="Calibri" pitchFamily="34" charset="0"/>
                <a:ea typeface="Calibri" pitchFamily="34" charset="-122"/>
                <a:cs typeface="Calibri" pitchFamily="34" charset="-120"/>
              </a:rPr>
              <a:t>Analyze failures</a:t>
            </a:r>
            <a:endParaRPr lang="en-US" sz="1300" dirty="0"/>
          </a:p>
        </p:txBody>
      </p:sp>
      <p:sp>
        <p:nvSpPr>
          <p:cNvPr id="12" name="Shape 10"/>
          <p:cNvSpPr/>
          <p:nvPr/>
        </p:nvSpPr>
        <p:spPr>
          <a:xfrm>
            <a:off x="813816" y="4718304"/>
            <a:ext cx="109728" cy="109728"/>
          </a:xfrm>
          <a:prstGeom prst="ellipse">
            <a:avLst/>
          </a:prstGeom>
          <a:solidFill>
            <a:srgbClr val="F2A63A"/>
          </a:solidFill>
          <a:ln/>
        </p:spPr>
      </p:sp>
      <p:sp>
        <p:nvSpPr>
          <p:cNvPr id="13" name="Text 11"/>
          <p:cNvSpPr/>
          <p:nvPr/>
        </p:nvSpPr>
        <p:spPr>
          <a:xfrm>
            <a:off x="1060704" y="4572000"/>
            <a:ext cx="2606040" cy="411480"/>
          </a:xfrm>
          <a:prstGeom prst="rect">
            <a:avLst/>
          </a:prstGeom>
          <a:noFill/>
          <a:ln/>
        </p:spPr>
        <p:txBody>
          <a:bodyPr wrap="square" rtlCol="0" anchor="ctr"/>
          <a:lstStyle/>
          <a:p>
            <a:pPr indent="0" marL="0">
              <a:buNone/>
            </a:pPr>
            <a:r>
              <a:rPr lang="en-US" sz="1300" dirty="0">
                <a:solidFill>
                  <a:srgbClr val="E7EEF4"/>
                </a:solidFill>
                <a:latin typeface="Calibri" pitchFamily="34" charset="0"/>
                <a:ea typeface="Calibri" pitchFamily="34" charset="-122"/>
                <a:cs typeface="Calibri" pitchFamily="34" charset="-120"/>
              </a:rPr>
              <a:t>Track deployments</a:t>
            </a:r>
            <a:endParaRPr lang="en-US" sz="1300" dirty="0"/>
          </a:p>
        </p:txBody>
      </p:sp>
      <p:sp>
        <p:nvSpPr>
          <p:cNvPr id="14" name="Shape 12"/>
          <p:cNvSpPr/>
          <p:nvPr/>
        </p:nvSpPr>
        <p:spPr>
          <a:xfrm>
            <a:off x="4334256" y="1600200"/>
            <a:ext cx="3520440" cy="4114800"/>
          </a:xfrm>
          <a:prstGeom prst="roundRect">
            <a:avLst>
              <a:gd name="adj" fmla="val 2597"/>
            </a:avLst>
          </a:prstGeom>
          <a:solidFill>
            <a:srgbClr val="12233F"/>
          </a:solidFill>
          <a:ln/>
        </p:spPr>
      </p:sp>
      <p:sp>
        <p:nvSpPr>
          <p:cNvPr id="15" name="Shape 13"/>
          <p:cNvSpPr/>
          <p:nvPr/>
        </p:nvSpPr>
        <p:spPr>
          <a:xfrm>
            <a:off x="4654296" y="1965960"/>
            <a:ext cx="640080" cy="640080"/>
          </a:xfrm>
          <a:prstGeom prst="ellipse">
            <a:avLst/>
          </a:prstGeom>
          <a:solidFill>
            <a:srgbClr val="FFFFFF"/>
          </a:solidFill>
          <a:ln/>
        </p:spPr>
      </p:sp>
      <p:sp>
        <p:nvSpPr>
          <p:cNvPr id="16" name="Text 14"/>
          <p:cNvSpPr/>
          <p:nvPr/>
        </p:nvSpPr>
        <p:spPr>
          <a:xfrm>
            <a:off x="4654296" y="1965960"/>
            <a:ext cx="640080" cy="640080"/>
          </a:xfrm>
          <a:prstGeom prst="rect">
            <a:avLst/>
          </a:prstGeom>
          <a:noFill/>
          <a:ln/>
        </p:spPr>
        <p:txBody>
          <a:bodyPr wrap="square" rtlCol="0" anchor="ctr"/>
          <a:lstStyle/>
          <a:p>
            <a:pPr algn="ctr" indent="0" marL="0">
              <a:buNone/>
            </a:pPr>
            <a:r>
              <a:rPr lang="en-US" sz="2400" b="1" dirty="0">
                <a:solidFill>
                  <a:srgbClr val="12233F"/>
                </a:solidFill>
                <a:latin typeface="Cambria" pitchFamily="34" charset="0"/>
                <a:ea typeface="Cambria" pitchFamily="34" charset="-122"/>
                <a:cs typeface="Cambria" pitchFamily="34" charset="-120"/>
              </a:rPr>
              <a:t>2</a:t>
            </a:r>
            <a:endParaRPr lang="en-US" sz="2400" dirty="0"/>
          </a:p>
        </p:txBody>
      </p:sp>
      <p:sp>
        <p:nvSpPr>
          <p:cNvPr id="17" name="Text 15"/>
          <p:cNvSpPr/>
          <p:nvPr/>
        </p:nvSpPr>
        <p:spPr>
          <a:xfrm>
            <a:off x="4654296" y="2788920"/>
            <a:ext cx="2880360" cy="6400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Cloud Administrator</a:t>
            </a:r>
            <a:endParaRPr lang="en-US" sz="1800" dirty="0"/>
          </a:p>
        </p:txBody>
      </p:sp>
      <p:sp>
        <p:nvSpPr>
          <p:cNvPr id="18" name="Shape 16"/>
          <p:cNvSpPr/>
          <p:nvPr/>
        </p:nvSpPr>
        <p:spPr>
          <a:xfrm>
            <a:off x="4654296" y="3712464"/>
            <a:ext cx="109728" cy="109728"/>
          </a:xfrm>
          <a:prstGeom prst="ellipse">
            <a:avLst/>
          </a:prstGeom>
          <a:solidFill>
            <a:srgbClr val="F2A63A"/>
          </a:solidFill>
          <a:ln/>
        </p:spPr>
      </p:sp>
      <p:sp>
        <p:nvSpPr>
          <p:cNvPr id="19" name="Text 17"/>
          <p:cNvSpPr/>
          <p:nvPr/>
        </p:nvSpPr>
        <p:spPr>
          <a:xfrm>
            <a:off x="4901184" y="3566160"/>
            <a:ext cx="2606040" cy="411480"/>
          </a:xfrm>
          <a:prstGeom prst="rect">
            <a:avLst/>
          </a:prstGeom>
          <a:noFill/>
          <a:ln/>
        </p:spPr>
        <p:txBody>
          <a:bodyPr wrap="square" rtlCol="0" anchor="ctr"/>
          <a:lstStyle/>
          <a:p>
            <a:pPr indent="0" marL="0">
              <a:buNone/>
            </a:pPr>
            <a:r>
              <a:rPr lang="en-US" sz="1300" dirty="0">
                <a:solidFill>
                  <a:srgbClr val="E7EEF4"/>
                </a:solidFill>
                <a:latin typeface="Calibri" pitchFamily="34" charset="0"/>
                <a:ea typeface="Calibri" pitchFamily="34" charset="-122"/>
                <a:cs typeface="Calibri" pitchFamily="34" charset="-120"/>
              </a:rPr>
              <a:t>Monitor infrastructure</a:t>
            </a:r>
            <a:endParaRPr lang="en-US" sz="1300" dirty="0"/>
          </a:p>
        </p:txBody>
      </p:sp>
      <p:sp>
        <p:nvSpPr>
          <p:cNvPr id="20" name="Shape 18"/>
          <p:cNvSpPr/>
          <p:nvPr/>
        </p:nvSpPr>
        <p:spPr>
          <a:xfrm>
            <a:off x="4654296" y="4215384"/>
            <a:ext cx="109728" cy="109728"/>
          </a:xfrm>
          <a:prstGeom prst="ellipse">
            <a:avLst/>
          </a:prstGeom>
          <a:solidFill>
            <a:srgbClr val="F2A63A"/>
          </a:solidFill>
          <a:ln/>
        </p:spPr>
      </p:sp>
      <p:sp>
        <p:nvSpPr>
          <p:cNvPr id="21" name="Text 19"/>
          <p:cNvSpPr/>
          <p:nvPr/>
        </p:nvSpPr>
        <p:spPr>
          <a:xfrm>
            <a:off x="4901184" y="4069080"/>
            <a:ext cx="2606040" cy="411480"/>
          </a:xfrm>
          <a:prstGeom prst="rect">
            <a:avLst/>
          </a:prstGeom>
          <a:noFill/>
          <a:ln/>
        </p:spPr>
        <p:txBody>
          <a:bodyPr wrap="square" rtlCol="0" anchor="ctr"/>
          <a:lstStyle/>
          <a:p>
            <a:pPr indent="0" marL="0">
              <a:buNone/>
            </a:pPr>
            <a:r>
              <a:rPr lang="en-US" sz="1300" dirty="0">
                <a:solidFill>
                  <a:srgbClr val="E7EEF4"/>
                </a:solidFill>
                <a:latin typeface="Calibri" pitchFamily="34" charset="0"/>
                <a:ea typeface="Calibri" pitchFamily="34" charset="-122"/>
                <a:cs typeface="Calibri" pitchFamily="34" charset="-120"/>
              </a:rPr>
              <a:t>Review system health</a:t>
            </a:r>
            <a:endParaRPr lang="en-US" sz="1300" dirty="0"/>
          </a:p>
        </p:txBody>
      </p:sp>
      <p:sp>
        <p:nvSpPr>
          <p:cNvPr id="22" name="Shape 20"/>
          <p:cNvSpPr/>
          <p:nvPr/>
        </p:nvSpPr>
        <p:spPr>
          <a:xfrm>
            <a:off x="4654296" y="4718304"/>
            <a:ext cx="109728" cy="109728"/>
          </a:xfrm>
          <a:prstGeom prst="ellipse">
            <a:avLst/>
          </a:prstGeom>
          <a:solidFill>
            <a:srgbClr val="F2A63A"/>
          </a:solidFill>
          <a:ln/>
        </p:spPr>
      </p:sp>
      <p:sp>
        <p:nvSpPr>
          <p:cNvPr id="23" name="Text 21"/>
          <p:cNvSpPr/>
          <p:nvPr/>
        </p:nvSpPr>
        <p:spPr>
          <a:xfrm>
            <a:off x="4901184" y="4572000"/>
            <a:ext cx="2606040" cy="411480"/>
          </a:xfrm>
          <a:prstGeom prst="rect">
            <a:avLst/>
          </a:prstGeom>
          <a:noFill/>
          <a:ln/>
        </p:spPr>
        <p:txBody>
          <a:bodyPr wrap="square" rtlCol="0" anchor="ctr"/>
          <a:lstStyle/>
          <a:p>
            <a:pPr indent="0" marL="0">
              <a:buNone/>
            </a:pPr>
            <a:r>
              <a:rPr lang="en-US" sz="1300" dirty="0">
                <a:solidFill>
                  <a:srgbClr val="E7EEF4"/>
                </a:solidFill>
                <a:latin typeface="Calibri" pitchFamily="34" charset="0"/>
                <a:ea typeface="Calibri" pitchFamily="34" charset="-122"/>
                <a:cs typeface="Calibri" pitchFamily="34" charset="-120"/>
              </a:rPr>
              <a:t>Check CloudWatch metrics</a:t>
            </a:r>
            <a:endParaRPr lang="en-US" sz="1300" dirty="0"/>
          </a:p>
        </p:txBody>
      </p:sp>
      <p:sp>
        <p:nvSpPr>
          <p:cNvPr id="24" name="Shape 22"/>
          <p:cNvSpPr/>
          <p:nvPr/>
        </p:nvSpPr>
        <p:spPr>
          <a:xfrm>
            <a:off x="8174736" y="1600200"/>
            <a:ext cx="3520440" cy="4114800"/>
          </a:xfrm>
          <a:prstGeom prst="roundRect">
            <a:avLst>
              <a:gd name="adj" fmla="val 2597"/>
            </a:avLst>
          </a:prstGeom>
          <a:solidFill>
            <a:srgbClr val="F2A63A"/>
          </a:solidFill>
          <a:ln/>
        </p:spPr>
      </p:sp>
      <p:sp>
        <p:nvSpPr>
          <p:cNvPr id="25" name="Shape 23"/>
          <p:cNvSpPr/>
          <p:nvPr/>
        </p:nvSpPr>
        <p:spPr>
          <a:xfrm>
            <a:off x="8494776" y="1965960"/>
            <a:ext cx="640080" cy="640080"/>
          </a:xfrm>
          <a:prstGeom prst="ellipse">
            <a:avLst/>
          </a:prstGeom>
          <a:solidFill>
            <a:srgbClr val="FFFFFF"/>
          </a:solidFill>
          <a:ln/>
        </p:spPr>
      </p:sp>
      <p:sp>
        <p:nvSpPr>
          <p:cNvPr id="26" name="Text 24"/>
          <p:cNvSpPr/>
          <p:nvPr/>
        </p:nvSpPr>
        <p:spPr>
          <a:xfrm>
            <a:off x="8494776" y="1965960"/>
            <a:ext cx="640080" cy="640080"/>
          </a:xfrm>
          <a:prstGeom prst="rect">
            <a:avLst/>
          </a:prstGeom>
          <a:noFill/>
          <a:ln/>
        </p:spPr>
        <p:txBody>
          <a:bodyPr wrap="square" rtlCol="0" anchor="ctr"/>
          <a:lstStyle/>
          <a:p>
            <a:pPr algn="ctr" indent="0" marL="0">
              <a:buNone/>
            </a:pPr>
            <a:r>
              <a:rPr lang="en-US" sz="2400" b="1" dirty="0">
                <a:solidFill>
                  <a:srgbClr val="F2A63A"/>
                </a:solidFill>
                <a:latin typeface="Cambria" pitchFamily="34" charset="0"/>
                <a:ea typeface="Cambria" pitchFamily="34" charset="-122"/>
                <a:cs typeface="Cambria" pitchFamily="34" charset="-120"/>
              </a:rPr>
              <a:t>3</a:t>
            </a:r>
            <a:endParaRPr lang="en-US" sz="2400" dirty="0"/>
          </a:p>
        </p:txBody>
      </p:sp>
      <p:sp>
        <p:nvSpPr>
          <p:cNvPr id="27" name="Text 25"/>
          <p:cNvSpPr/>
          <p:nvPr/>
        </p:nvSpPr>
        <p:spPr>
          <a:xfrm>
            <a:off x="8494776" y="2788920"/>
            <a:ext cx="2880360" cy="640080"/>
          </a:xfrm>
          <a:prstGeom prst="rect">
            <a:avLst/>
          </a:prstGeom>
          <a:noFill/>
          <a:ln/>
        </p:spPr>
        <p:txBody>
          <a:bodyPr wrap="square" rtlCol="0" anchor="ctr"/>
          <a:lstStyle/>
          <a:p>
            <a:pPr indent="0" marL="0">
              <a:buNone/>
            </a:pPr>
            <a:r>
              <a:rPr lang="en-US" sz="1800" b="1" dirty="0">
                <a:solidFill>
                  <a:srgbClr val="12233F"/>
                </a:solidFill>
                <a:latin typeface="Cambria" pitchFamily="34" charset="0"/>
                <a:ea typeface="Cambria" pitchFamily="34" charset="-122"/>
                <a:cs typeface="Cambria" pitchFamily="34" charset="-120"/>
              </a:rPr>
              <a:t>Software Developer</a:t>
            </a:r>
            <a:endParaRPr lang="en-US" sz="1800" dirty="0"/>
          </a:p>
        </p:txBody>
      </p:sp>
      <p:sp>
        <p:nvSpPr>
          <p:cNvPr id="28" name="Shape 26"/>
          <p:cNvSpPr/>
          <p:nvPr/>
        </p:nvSpPr>
        <p:spPr>
          <a:xfrm>
            <a:off x="8494776" y="3712464"/>
            <a:ext cx="109728" cy="109728"/>
          </a:xfrm>
          <a:prstGeom prst="ellipse">
            <a:avLst/>
          </a:prstGeom>
          <a:solidFill>
            <a:srgbClr val="12233F"/>
          </a:solidFill>
          <a:ln/>
        </p:spPr>
      </p:sp>
      <p:sp>
        <p:nvSpPr>
          <p:cNvPr id="29" name="Text 27"/>
          <p:cNvSpPr/>
          <p:nvPr/>
        </p:nvSpPr>
        <p:spPr>
          <a:xfrm>
            <a:off x="8741664" y="3566160"/>
            <a:ext cx="2606040" cy="411480"/>
          </a:xfrm>
          <a:prstGeom prst="rect">
            <a:avLst/>
          </a:prstGeom>
          <a:noFill/>
          <a:ln/>
        </p:spPr>
        <p:txBody>
          <a:bodyPr wrap="square" rtlCol="0" anchor="ctr"/>
          <a:lstStyle/>
          <a:p>
            <a:pPr indent="0" marL="0">
              <a:buNone/>
            </a:pPr>
            <a:r>
              <a:rPr lang="en-US" sz="1300" dirty="0">
                <a:solidFill>
                  <a:srgbClr val="12233F"/>
                </a:solidFill>
                <a:latin typeface="Calibri" pitchFamily="34" charset="0"/>
                <a:ea typeface="Calibri" pitchFamily="34" charset="-122"/>
                <a:cs typeface="Calibri" pitchFamily="34" charset="-120"/>
              </a:rPr>
              <a:t>View build results</a:t>
            </a:r>
            <a:endParaRPr lang="en-US" sz="1300" dirty="0"/>
          </a:p>
        </p:txBody>
      </p:sp>
      <p:sp>
        <p:nvSpPr>
          <p:cNvPr id="30" name="Shape 28"/>
          <p:cNvSpPr/>
          <p:nvPr/>
        </p:nvSpPr>
        <p:spPr>
          <a:xfrm>
            <a:off x="8494776" y="4215384"/>
            <a:ext cx="109728" cy="109728"/>
          </a:xfrm>
          <a:prstGeom prst="ellipse">
            <a:avLst/>
          </a:prstGeom>
          <a:solidFill>
            <a:srgbClr val="12233F"/>
          </a:solidFill>
          <a:ln/>
        </p:spPr>
      </p:sp>
      <p:sp>
        <p:nvSpPr>
          <p:cNvPr id="31" name="Text 29"/>
          <p:cNvSpPr/>
          <p:nvPr/>
        </p:nvSpPr>
        <p:spPr>
          <a:xfrm>
            <a:off x="8741664" y="4069080"/>
            <a:ext cx="2606040" cy="411480"/>
          </a:xfrm>
          <a:prstGeom prst="rect">
            <a:avLst/>
          </a:prstGeom>
          <a:noFill/>
          <a:ln/>
        </p:spPr>
        <p:txBody>
          <a:bodyPr wrap="square" rtlCol="0" anchor="ctr"/>
          <a:lstStyle/>
          <a:p>
            <a:pPr indent="0" marL="0">
              <a:buNone/>
            </a:pPr>
            <a:r>
              <a:rPr lang="en-US" sz="1300" dirty="0">
                <a:solidFill>
                  <a:srgbClr val="12233F"/>
                </a:solidFill>
                <a:latin typeface="Calibri" pitchFamily="34" charset="0"/>
                <a:ea typeface="Calibri" pitchFamily="34" charset="-122"/>
                <a:cs typeface="Calibri" pitchFamily="34" charset="-120"/>
              </a:rPr>
              <a:t>Verify deployments</a:t>
            </a:r>
            <a:endParaRPr lang="en-US" sz="1300" dirty="0"/>
          </a:p>
        </p:txBody>
      </p:sp>
      <p:sp>
        <p:nvSpPr>
          <p:cNvPr id="32" name="Shape 30"/>
          <p:cNvSpPr/>
          <p:nvPr/>
        </p:nvSpPr>
        <p:spPr>
          <a:xfrm>
            <a:off x="8494776" y="4718304"/>
            <a:ext cx="109728" cy="109728"/>
          </a:xfrm>
          <a:prstGeom prst="ellipse">
            <a:avLst/>
          </a:prstGeom>
          <a:solidFill>
            <a:srgbClr val="12233F"/>
          </a:solidFill>
          <a:ln/>
        </p:spPr>
      </p:sp>
      <p:sp>
        <p:nvSpPr>
          <p:cNvPr id="33" name="Text 31"/>
          <p:cNvSpPr/>
          <p:nvPr/>
        </p:nvSpPr>
        <p:spPr>
          <a:xfrm>
            <a:off x="8741664" y="4572000"/>
            <a:ext cx="2606040" cy="411480"/>
          </a:xfrm>
          <a:prstGeom prst="rect">
            <a:avLst/>
          </a:prstGeom>
          <a:noFill/>
          <a:ln/>
        </p:spPr>
        <p:txBody>
          <a:bodyPr wrap="square" rtlCol="0" anchor="ctr"/>
          <a:lstStyle/>
          <a:p>
            <a:pPr indent="0" marL="0">
              <a:buNone/>
            </a:pPr>
            <a:r>
              <a:rPr lang="en-US" sz="1300" dirty="0">
                <a:solidFill>
                  <a:srgbClr val="12233F"/>
                </a:solidFill>
                <a:latin typeface="Calibri" pitchFamily="34" charset="0"/>
                <a:ea typeface="Calibri" pitchFamily="34" charset="-122"/>
                <a:cs typeface="Calibri" pitchFamily="34" charset="-120"/>
              </a:rPr>
              <a:t>Review logs</a:t>
            </a:r>
            <a:endParaRPr lang="en-US" sz="1300" dirty="0"/>
          </a:p>
        </p:txBody>
      </p:sp>
      <p:sp>
        <p:nvSpPr>
          <p:cNvPr id="34" name="Text 32"/>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35" name="Text 3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OVERALL DESCRIPTION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Operating Environment</a:t>
            </a:r>
            <a:endParaRPr lang="en-US" sz="3000" dirty="0"/>
          </a:p>
        </p:txBody>
      </p:sp>
      <p:sp>
        <p:nvSpPr>
          <p:cNvPr id="4" name="Shape 2"/>
          <p:cNvSpPr/>
          <p:nvPr/>
        </p:nvSpPr>
        <p:spPr>
          <a:xfrm>
            <a:off x="548640" y="1554480"/>
            <a:ext cx="2606040" cy="1508760"/>
          </a:xfrm>
          <a:prstGeom prst="roundRect">
            <a:avLst>
              <a:gd name="adj" fmla="val 4848"/>
            </a:avLst>
          </a:prstGeom>
          <a:solidFill>
            <a:srgbClr val="FFFFFF"/>
          </a:solidFill>
          <a:ln w="12700">
            <a:solidFill>
              <a:srgbClr val="DDE5EC"/>
            </a:solidFill>
            <a:prstDash val="solid"/>
          </a:ln>
        </p:spPr>
      </p:sp>
      <p:sp>
        <p:nvSpPr>
          <p:cNvPr id="5" name="Shape 3"/>
          <p:cNvSpPr/>
          <p:nvPr/>
        </p:nvSpPr>
        <p:spPr>
          <a:xfrm>
            <a:off x="548640" y="1554480"/>
            <a:ext cx="2606040" cy="73152"/>
          </a:xfrm>
          <a:prstGeom prst="roundRect">
            <a:avLst/>
          </a:prstGeom>
          <a:solidFill>
            <a:srgbClr val="0E7C86"/>
          </a:solidFill>
          <a:ln/>
        </p:spPr>
      </p:sp>
      <p:sp>
        <p:nvSpPr>
          <p:cNvPr id="6" name="Text 4"/>
          <p:cNvSpPr/>
          <p:nvPr/>
        </p:nvSpPr>
        <p:spPr>
          <a:xfrm>
            <a:off x="731520" y="1810512"/>
            <a:ext cx="224028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FRONTEND</a:t>
            </a:r>
            <a:endParaRPr lang="en-US" sz="1000" dirty="0"/>
          </a:p>
        </p:txBody>
      </p:sp>
      <p:sp>
        <p:nvSpPr>
          <p:cNvPr id="7" name="Text 5"/>
          <p:cNvSpPr/>
          <p:nvPr/>
        </p:nvSpPr>
        <p:spPr>
          <a:xfrm>
            <a:off x="731520" y="2121408"/>
            <a:ext cx="2240280" cy="777240"/>
          </a:xfrm>
          <a:prstGeom prst="rect">
            <a:avLst/>
          </a:prstGeom>
          <a:noFill/>
          <a:ln/>
        </p:spPr>
        <p:txBody>
          <a:bodyPr wrap="square" rtlCol="0" anchor="ctr"/>
          <a:lstStyle/>
          <a:p>
            <a:pPr indent="0" marL="0">
              <a:lnSpc>
                <a:spcPct val="105000"/>
              </a:lnSpc>
              <a:buNone/>
            </a:pPr>
            <a:r>
              <a:rPr lang="en-US" sz="1500" b="1" dirty="0">
                <a:solidFill>
                  <a:srgbClr val="12233F"/>
                </a:solidFill>
                <a:latin typeface="Cambria" pitchFamily="34" charset="0"/>
                <a:ea typeface="Cambria" pitchFamily="34" charset="-122"/>
                <a:cs typeface="Cambria" pitchFamily="34" charset="-120"/>
              </a:rPr>
              <a:t>React.js</a:t>
            </a:r>
            <a:endParaRPr lang="en-US" sz="1500" dirty="0"/>
          </a:p>
        </p:txBody>
      </p:sp>
      <p:sp>
        <p:nvSpPr>
          <p:cNvPr id="8" name="Shape 6"/>
          <p:cNvSpPr/>
          <p:nvPr/>
        </p:nvSpPr>
        <p:spPr>
          <a:xfrm>
            <a:off x="3337560" y="1554480"/>
            <a:ext cx="2606040" cy="1508760"/>
          </a:xfrm>
          <a:prstGeom prst="roundRect">
            <a:avLst>
              <a:gd name="adj" fmla="val 4848"/>
            </a:avLst>
          </a:prstGeom>
          <a:solidFill>
            <a:srgbClr val="FFFFFF"/>
          </a:solidFill>
          <a:ln w="12700">
            <a:solidFill>
              <a:srgbClr val="DDE5EC"/>
            </a:solidFill>
            <a:prstDash val="solid"/>
          </a:ln>
        </p:spPr>
      </p:sp>
      <p:sp>
        <p:nvSpPr>
          <p:cNvPr id="9" name="Shape 7"/>
          <p:cNvSpPr/>
          <p:nvPr/>
        </p:nvSpPr>
        <p:spPr>
          <a:xfrm>
            <a:off x="3337560" y="1554480"/>
            <a:ext cx="2606040" cy="73152"/>
          </a:xfrm>
          <a:prstGeom prst="roundRect">
            <a:avLst/>
          </a:prstGeom>
          <a:solidFill>
            <a:srgbClr val="F2A63A"/>
          </a:solidFill>
          <a:ln/>
        </p:spPr>
      </p:sp>
      <p:sp>
        <p:nvSpPr>
          <p:cNvPr id="10" name="Text 8"/>
          <p:cNvSpPr/>
          <p:nvPr/>
        </p:nvSpPr>
        <p:spPr>
          <a:xfrm>
            <a:off x="3520440" y="1810512"/>
            <a:ext cx="224028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BACKEND</a:t>
            </a:r>
            <a:endParaRPr lang="en-US" sz="1000" dirty="0"/>
          </a:p>
        </p:txBody>
      </p:sp>
      <p:sp>
        <p:nvSpPr>
          <p:cNvPr id="11" name="Text 9"/>
          <p:cNvSpPr/>
          <p:nvPr/>
        </p:nvSpPr>
        <p:spPr>
          <a:xfrm>
            <a:off x="3520440" y="2121408"/>
            <a:ext cx="2240280" cy="777240"/>
          </a:xfrm>
          <a:prstGeom prst="rect">
            <a:avLst/>
          </a:prstGeom>
          <a:noFill/>
          <a:ln/>
        </p:spPr>
        <p:txBody>
          <a:bodyPr wrap="square" rtlCol="0" anchor="ctr"/>
          <a:lstStyle/>
          <a:p>
            <a:pPr indent="0" marL="0">
              <a:lnSpc>
                <a:spcPct val="105000"/>
              </a:lnSpc>
              <a:buNone/>
            </a:pPr>
            <a:r>
              <a:rPr lang="en-US" sz="1500" b="1" dirty="0">
                <a:solidFill>
                  <a:srgbClr val="12233F"/>
                </a:solidFill>
                <a:latin typeface="Cambria" pitchFamily="34" charset="0"/>
                <a:ea typeface="Cambria" pitchFamily="34" charset="-122"/>
                <a:cs typeface="Cambria" pitchFamily="34" charset="-120"/>
              </a:rPr>
              <a:t>Node.js / Express.js</a:t>
            </a:r>
            <a:endParaRPr lang="en-US" sz="1500" dirty="0"/>
          </a:p>
        </p:txBody>
      </p:sp>
      <p:sp>
        <p:nvSpPr>
          <p:cNvPr id="12" name="Shape 10"/>
          <p:cNvSpPr/>
          <p:nvPr/>
        </p:nvSpPr>
        <p:spPr>
          <a:xfrm>
            <a:off x="6126480" y="1554480"/>
            <a:ext cx="2606040" cy="1508760"/>
          </a:xfrm>
          <a:prstGeom prst="roundRect">
            <a:avLst>
              <a:gd name="adj" fmla="val 4848"/>
            </a:avLst>
          </a:prstGeom>
          <a:solidFill>
            <a:srgbClr val="FFFFFF"/>
          </a:solidFill>
          <a:ln w="12700">
            <a:solidFill>
              <a:srgbClr val="DDE5EC"/>
            </a:solidFill>
            <a:prstDash val="solid"/>
          </a:ln>
        </p:spPr>
      </p:sp>
      <p:sp>
        <p:nvSpPr>
          <p:cNvPr id="13" name="Shape 11"/>
          <p:cNvSpPr/>
          <p:nvPr/>
        </p:nvSpPr>
        <p:spPr>
          <a:xfrm>
            <a:off x="6126480" y="1554480"/>
            <a:ext cx="2606040" cy="73152"/>
          </a:xfrm>
          <a:prstGeom prst="roundRect">
            <a:avLst/>
          </a:prstGeom>
          <a:solidFill>
            <a:srgbClr val="0E7C86"/>
          </a:solidFill>
          <a:ln/>
        </p:spPr>
      </p:sp>
      <p:sp>
        <p:nvSpPr>
          <p:cNvPr id="14" name="Text 12"/>
          <p:cNvSpPr/>
          <p:nvPr/>
        </p:nvSpPr>
        <p:spPr>
          <a:xfrm>
            <a:off x="6309360" y="1810512"/>
            <a:ext cx="224028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DATABASE</a:t>
            </a:r>
            <a:endParaRPr lang="en-US" sz="1000" dirty="0"/>
          </a:p>
        </p:txBody>
      </p:sp>
      <p:sp>
        <p:nvSpPr>
          <p:cNvPr id="15" name="Text 13"/>
          <p:cNvSpPr/>
          <p:nvPr/>
        </p:nvSpPr>
        <p:spPr>
          <a:xfrm>
            <a:off x="6309360" y="2121408"/>
            <a:ext cx="2240280" cy="777240"/>
          </a:xfrm>
          <a:prstGeom prst="rect">
            <a:avLst/>
          </a:prstGeom>
          <a:noFill/>
          <a:ln/>
        </p:spPr>
        <p:txBody>
          <a:bodyPr wrap="square" rtlCol="0" anchor="ctr"/>
          <a:lstStyle/>
          <a:p>
            <a:pPr indent="0" marL="0">
              <a:lnSpc>
                <a:spcPct val="105000"/>
              </a:lnSpc>
              <a:buNone/>
            </a:pPr>
            <a:r>
              <a:rPr lang="en-US" sz="1500" b="1" dirty="0">
                <a:solidFill>
                  <a:srgbClr val="12233F"/>
                </a:solidFill>
                <a:latin typeface="Cambria" pitchFamily="34" charset="0"/>
                <a:ea typeface="Cambria" pitchFamily="34" charset="-122"/>
                <a:cs typeface="Cambria" pitchFamily="34" charset="-120"/>
              </a:rPr>
              <a:t>Amazon DynamoDB</a:t>
            </a:r>
            <a:endParaRPr lang="en-US" sz="1500" dirty="0"/>
          </a:p>
        </p:txBody>
      </p:sp>
      <p:sp>
        <p:nvSpPr>
          <p:cNvPr id="16" name="Shape 14"/>
          <p:cNvSpPr/>
          <p:nvPr/>
        </p:nvSpPr>
        <p:spPr>
          <a:xfrm>
            <a:off x="8915400" y="1554480"/>
            <a:ext cx="2606040" cy="1508760"/>
          </a:xfrm>
          <a:prstGeom prst="roundRect">
            <a:avLst>
              <a:gd name="adj" fmla="val 4848"/>
            </a:avLst>
          </a:prstGeom>
          <a:solidFill>
            <a:srgbClr val="FFFFFF"/>
          </a:solidFill>
          <a:ln w="12700">
            <a:solidFill>
              <a:srgbClr val="DDE5EC"/>
            </a:solidFill>
            <a:prstDash val="solid"/>
          </a:ln>
        </p:spPr>
      </p:sp>
      <p:sp>
        <p:nvSpPr>
          <p:cNvPr id="17" name="Shape 15"/>
          <p:cNvSpPr/>
          <p:nvPr/>
        </p:nvSpPr>
        <p:spPr>
          <a:xfrm>
            <a:off x="8915400" y="1554480"/>
            <a:ext cx="2606040" cy="73152"/>
          </a:xfrm>
          <a:prstGeom prst="roundRect">
            <a:avLst/>
          </a:prstGeom>
          <a:solidFill>
            <a:srgbClr val="F2A63A"/>
          </a:solidFill>
          <a:ln/>
        </p:spPr>
      </p:sp>
      <p:sp>
        <p:nvSpPr>
          <p:cNvPr id="18" name="Text 16"/>
          <p:cNvSpPr/>
          <p:nvPr/>
        </p:nvSpPr>
        <p:spPr>
          <a:xfrm>
            <a:off x="9098280" y="1810512"/>
            <a:ext cx="224028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CLOUD PLATFORM</a:t>
            </a:r>
            <a:endParaRPr lang="en-US" sz="1000" dirty="0"/>
          </a:p>
        </p:txBody>
      </p:sp>
      <p:sp>
        <p:nvSpPr>
          <p:cNvPr id="19" name="Text 17"/>
          <p:cNvSpPr/>
          <p:nvPr/>
        </p:nvSpPr>
        <p:spPr>
          <a:xfrm>
            <a:off x="9098280" y="2121408"/>
            <a:ext cx="2240280" cy="777240"/>
          </a:xfrm>
          <a:prstGeom prst="rect">
            <a:avLst/>
          </a:prstGeom>
          <a:noFill/>
          <a:ln/>
        </p:spPr>
        <p:txBody>
          <a:bodyPr wrap="square" rtlCol="0" anchor="ctr"/>
          <a:lstStyle/>
          <a:p>
            <a:pPr indent="0" marL="0">
              <a:lnSpc>
                <a:spcPct val="105000"/>
              </a:lnSpc>
              <a:buNone/>
            </a:pPr>
            <a:r>
              <a:rPr lang="en-US" sz="1500" b="1" dirty="0">
                <a:solidFill>
                  <a:srgbClr val="12233F"/>
                </a:solidFill>
                <a:latin typeface="Cambria" pitchFamily="34" charset="0"/>
                <a:ea typeface="Cambria" pitchFamily="34" charset="-122"/>
                <a:cs typeface="Cambria" pitchFamily="34" charset="-120"/>
              </a:rPr>
              <a:t>Amazon Web Services</a:t>
            </a:r>
            <a:endParaRPr lang="en-US" sz="1500" dirty="0"/>
          </a:p>
        </p:txBody>
      </p:sp>
      <p:sp>
        <p:nvSpPr>
          <p:cNvPr id="20" name="Shape 18"/>
          <p:cNvSpPr/>
          <p:nvPr/>
        </p:nvSpPr>
        <p:spPr>
          <a:xfrm>
            <a:off x="548640" y="3264408"/>
            <a:ext cx="2606040" cy="1508760"/>
          </a:xfrm>
          <a:prstGeom prst="roundRect">
            <a:avLst>
              <a:gd name="adj" fmla="val 4848"/>
            </a:avLst>
          </a:prstGeom>
          <a:solidFill>
            <a:srgbClr val="FFFFFF"/>
          </a:solidFill>
          <a:ln w="12700">
            <a:solidFill>
              <a:srgbClr val="DDE5EC"/>
            </a:solidFill>
            <a:prstDash val="solid"/>
          </a:ln>
        </p:spPr>
      </p:sp>
      <p:sp>
        <p:nvSpPr>
          <p:cNvPr id="21" name="Shape 19"/>
          <p:cNvSpPr/>
          <p:nvPr/>
        </p:nvSpPr>
        <p:spPr>
          <a:xfrm>
            <a:off x="548640" y="3264408"/>
            <a:ext cx="2606040" cy="73152"/>
          </a:xfrm>
          <a:prstGeom prst="roundRect">
            <a:avLst/>
          </a:prstGeom>
          <a:solidFill>
            <a:srgbClr val="0E7C86"/>
          </a:solidFill>
          <a:ln/>
        </p:spPr>
      </p:sp>
      <p:sp>
        <p:nvSpPr>
          <p:cNvPr id="22" name="Text 20"/>
          <p:cNvSpPr/>
          <p:nvPr/>
        </p:nvSpPr>
        <p:spPr>
          <a:xfrm>
            <a:off x="731520" y="3520440"/>
            <a:ext cx="224028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OPERATING SYSTEM</a:t>
            </a:r>
            <a:endParaRPr lang="en-US" sz="1000" dirty="0"/>
          </a:p>
        </p:txBody>
      </p:sp>
      <p:sp>
        <p:nvSpPr>
          <p:cNvPr id="23" name="Text 21"/>
          <p:cNvSpPr/>
          <p:nvPr/>
        </p:nvSpPr>
        <p:spPr>
          <a:xfrm>
            <a:off x="731520" y="3831336"/>
            <a:ext cx="2240280" cy="777240"/>
          </a:xfrm>
          <a:prstGeom prst="rect">
            <a:avLst/>
          </a:prstGeom>
          <a:noFill/>
          <a:ln/>
        </p:spPr>
        <p:txBody>
          <a:bodyPr wrap="square" rtlCol="0" anchor="ctr"/>
          <a:lstStyle/>
          <a:p>
            <a:pPr indent="0" marL="0">
              <a:lnSpc>
                <a:spcPct val="105000"/>
              </a:lnSpc>
              <a:buNone/>
            </a:pPr>
            <a:r>
              <a:rPr lang="en-US" sz="1500" b="1" dirty="0">
                <a:solidFill>
                  <a:srgbClr val="12233F"/>
                </a:solidFill>
                <a:latin typeface="Cambria" pitchFamily="34" charset="0"/>
                <a:ea typeface="Cambria" pitchFamily="34" charset="-122"/>
                <a:cs typeface="Cambria" pitchFamily="34" charset="-120"/>
              </a:rPr>
              <a:t>Ubuntu Linux</a:t>
            </a:r>
            <a:endParaRPr lang="en-US" sz="1500" dirty="0"/>
          </a:p>
        </p:txBody>
      </p:sp>
      <p:sp>
        <p:nvSpPr>
          <p:cNvPr id="24" name="Shape 22"/>
          <p:cNvSpPr/>
          <p:nvPr/>
        </p:nvSpPr>
        <p:spPr>
          <a:xfrm>
            <a:off x="3337560" y="3264408"/>
            <a:ext cx="2606040" cy="1508760"/>
          </a:xfrm>
          <a:prstGeom prst="roundRect">
            <a:avLst>
              <a:gd name="adj" fmla="val 4848"/>
            </a:avLst>
          </a:prstGeom>
          <a:solidFill>
            <a:srgbClr val="FFFFFF"/>
          </a:solidFill>
          <a:ln w="12700">
            <a:solidFill>
              <a:srgbClr val="DDE5EC"/>
            </a:solidFill>
            <a:prstDash val="solid"/>
          </a:ln>
        </p:spPr>
      </p:sp>
      <p:sp>
        <p:nvSpPr>
          <p:cNvPr id="25" name="Shape 23"/>
          <p:cNvSpPr/>
          <p:nvPr/>
        </p:nvSpPr>
        <p:spPr>
          <a:xfrm>
            <a:off x="3337560" y="3264408"/>
            <a:ext cx="2606040" cy="73152"/>
          </a:xfrm>
          <a:prstGeom prst="roundRect">
            <a:avLst/>
          </a:prstGeom>
          <a:solidFill>
            <a:srgbClr val="F2A63A"/>
          </a:solidFill>
          <a:ln/>
        </p:spPr>
      </p:sp>
      <p:sp>
        <p:nvSpPr>
          <p:cNvPr id="26" name="Text 24"/>
          <p:cNvSpPr/>
          <p:nvPr/>
        </p:nvSpPr>
        <p:spPr>
          <a:xfrm>
            <a:off x="3520440" y="3520440"/>
            <a:ext cx="224028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MONITORING</a:t>
            </a:r>
            <a:endParaRPr lang="en-US" sz="1000" dirty="0"/>
          </a:p>
        </p:txBody>
      </p:sp>
      <p:sp>
        <p:nvSpPr>
          <p:cNvPr id="27" name="Text 25"/>
          <p:cNvSpPr/>
          <p:nvPr/>
        </p:nvSpPr>
        <p:spPr>
          <a:xfrm>
            <a:off x="3520440" y="3831336"/>
            <a:ext cx="2240280" cy="777240"/>
          </a:xfrm>
          <a:prstGeom prst="rect">
            <a:avLst/>
          </a:prstGeom>
          <a:noFill/>
          <a:ln/>
        </p:spPr>
        <p:txBody>
          <a:bodyPr wrap="square" rtlCol="0" anchor="ctr"/>
          <a:lstStyle/>
          <a:p>
            <a:pPr indent="0" marL="0">
              <a:lnSpc>
                <a:spcPct val="105000"/>
              </a:lnSpc>
              <a:buNone/>
            </a:pPr>
            <a:r>
              <a:rPr lang="en-US" sz="1500" b="1" dirty="0">
                <a:solidFill>
                  <a:srgbClr val="12233F"/>
                </a:solidFill>
                <a:latin typeface="Cambria" pitchFamily="34" charset="0"/>
                <a:ea typeface="Cambria" pitchFamily="34" charset="-122"/>
                <a:cs typeface="Cambria" pitchFamily="34" charset="-120"/>
              </a:rPr>
              <a:t>Grafana</a:t>
            </a:r>
            <a:endParaRPr lang="en-US" sz="1500" dirty="0"/>
          </a:p>
        </p:txBody>
      </p:sp>
      <p:sp>
        <p:nvSpPr>
          <p:cNvPr id="28" name="Shape 26"/>
          <p:cNvSpPr/>
          <p:nvPr/>
        </p:nvSpPr>
        <p:spPr>
          <a:xfrm>
            <a:off x="6126480" y="3264408"/>
            <a:ext cx="2606040" cy="1508760"/>
          </a:xfrm>
          <a:prstGeom prst="roundRect">
            <a:avLst>
              <a:gd name="adj" fmla="val 4848"/>
            </a:avLst>
          </a:prstGeom>
          <a:solidFill>
            <a:srgbClr val="FFFFFF"/>
          </a:solidFill>
          <a:ln w="12700">
            <a:solidFill>
              <a:srgbClr val="DDE5EC"/>
            </a:solidFill>
            <a:prstDash val="solid"/>
          </a:ln>
        </p:spPr>
      </p:sp>
      <p:sp>
        <p:nvSpPr>
          <p:cNvPr id="29" name="Shape 27"/>
          <p:cNvSpPr/>
          <p:nvPr/>
        </p:nvSpPr>
        <p:spPr>
          <a:xfrm>
            <a:off x="6126480" y="3264408"/>
            <a:ext cx="2606040" cy="73152"/>
          </a:xfrm>
          <a:prstGeom prst="roundRect">
            <a:avLst/>
          </a:prstGeom>
          <a:solidFill>
            <a:srgbClr val="0E7C86"/>
          </a:solidFill>
          <a:ln/>
        </p:spPr>
      </p:sp>
      <p:sp>
        <p:nvSpPr>
          <p:cNvPr id="30" name="Text 28"/>
          <p:cNvSpPr/>
          <p:nvPr/>
        </p:nvSpPr>
        <p:spPr>
          <a:xfrm>
            <a:off x="6309360" y="3520440"/>
            <a:ext cx="2240280" cy="274320"/>
          </a:xfrm>
          <a:prstGeom prst="rect">
            <a:avLst/>
          </a:prstGeom>
          <a:noFill/>
          <a:ln/>
        </p:spPr>
        <p:txBody>
          <a:bodyPr wrap="square" rtlCol="0" anchor="ctr"/>
          <a:lstStyle/>
          <a:p>
            <a:pPr indent="0" marL="0">
              <a:buNone/>
            </a:pPr>
            <a:r>
              <a:rPr lang="en-US" sz="1000" b="1" spc="100" kern="0" dirty="0">
                <a:solidFill>
                  <a:srgbClr val="5B6B7C"/>
                </a:solidFill>
                <a:latin typeface="Calibri" pitchFamily="34" charset="0"/>
                <a:ea typeface="Calibri" pitchFamily="34" charset="-122"/>
                <a:cs typeface="Calibri" pitchFamily="34" charset="-120"/>
              </a:rPr>
              <a:t>BROWSER SUPPORT</a:t>
            </a:r>
            <a:endParaRPr lang="en-US" sz="1000" dirty="0"/>
          </a:p>
        </p:txBody>
      </p:sp>
      <p:sp>
        <p:nvSpPr>
          <p:cNvPr id="31" name="Text 29"/>
          <p:cNvSpPr/>
          <p:nvPr/>
        </p:nvSpPr>
        <p:spPr>
          <a:xfrm>
            <a:off x="6309360" y="3831336"/>
            <a:ext cx="2240280" cy="777240"/>
          </a:xfrm>
          <a:prstGeom prst="rect">
            <a:avLst/>
          </a:prstGeom>
          <a:noFill/>
          <a:ln/>
        </p:spPr>
        <p:txBody>
          <a:bodyPr wrap="square" rtlCol="0" anchor="ctr"/>
          <a:lstStyle/>
          <a:p>
            <a:pPr indent="0" marL="0">
              <a:lnSpc>
                <a:spcPct val="105000"/>
              </a:lnSpc>
              <a:buNone/>
            </a:pPr>
            <a:r>
              <a:rPr lang="en-US" sz="1500" b="1" dirty="0">
                <a:solidFill>
                  <a:srgbClr val="12233F"/>
                </a:solidFill>
                <a:latin typeface="Cambria" pitchFamily="34" charset="0"/>
                <a:ea typeface="Cambria" pitchFamily="34" charset="-122"/>
                <a:cs typeface="Cambria" pitchFamily="34" charset="-120"/>
              </a:rPr>
              <a:t>Chrome, Edge, Firefox</a:t>
            </a:r>
            <a:endParaRPr lang="en-US" sz="1500" dirty="0"/>
          </a:p>
        </p:txBody>
      </p:sp>
      <p:sp>
        <p:nvSpPr>
          <p:cNvPr id="32" name="Text 30"/>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33" name="Text 31"/>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FUNCTIONAL REQUIREMENTS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Requirements FR-1 to FR-5</a:t>
            </a:r>
            <a:endParaRPr lang="en-US" sz="3000" dirty="0"/>
          </a:p>
        </p:txBody>
      </p:sp>
      <p:sp>
        <p:nvSpPr>
          <p:cNvPr id="4" name="Shape 2"/>
          <p:cNvSpPr/>
          <p:nvPr/>
        </p:nvSpPr>
        <p:spPr>
          <a:xfrm>
            <a:off x="548640" y="1600200"/>
            <a:ext cx="11064240" cy="777240"/>
          </a:xfrm>
          <a:prstGeom prst="roundRect">
            <a:avLst>
              <a:gd name="adj" fmla="val 8235"/>
            </a:avLst>
          </a:prstGeom>
          <a:solidFill>
            <a:srgbClr val="FFFFFF"/>
          </a:solidFill>
          <a:ln w="12700">
            <a:solidFill>
              <a:srgbClr val="DDE5EC"/>
            </a:solidFill>
            <a:prstDash val="solid"/>
          </a:ln>
        </p:spPr>
      </p:sp>
      <p:sp>
        <p:nvSpPr>
          <p:cNvPr id="5" name="Shape 3"/>
          <p:cNvSpPr/>
          <p:nvPr/>
        </p:nvSpPr>
        <p:spPr>
          <a:xfrm>
            <a:off x="548640" y="1600200"/>
            <a:ext cx="1051560" cy="777240"/>
          </a:xfrm>
          <a:prstGeom prst="roundRect">
            <a:avLst>
              <a:gd name="adj" fmla="val 8235"/>
            </a:avLst>
          </a:prstGeom>
          <a:solidFill>
            <a:srgbClr val="0E7C86"/>
          </a:solidFill>
          <a:ln/>
        </p:spPr>
      </p:sp>
      <p:sp>
        <p:nvSpPr>
          <p:cNvPr id="6" name="Text 4"/>
          <p:cNvSpPr/>
          <p:nvPr/>
        </p:nvSpPr>
        <p:spPr>
          <a:xfrm>
            <a:off x="548640" y="1600200"/>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FR-1</a:t>
            </a:r>
            <a:endParaRPr lang="en-US" sz="1400" dirty="0"/>
          </a:p>
        </p:txBody>
      </p:sp>
      <p:sp>
        <p:nvSpPr>
          <p:cNvPr id="7" name="Text 5"/>
          <p:cNvSpPr/>
          <p:nvPr/>
        </p:nvSpPr>
        <p:spPr>
          <a:xfrm>
            <a:off x="1783080" y="1691640"/>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Source Monitoring</a:t>
            </a:r>
            <a:endParaRPr lang="en-US" sz="1350" dirty="0"/>
          </a:p>
        </p:txBody>
      </p:sp>
      <p:sp>
        <p:nvSpPr>
          <p:cNvPr id="8" name="Text 6"/>
          <p:cNvSpPr/>
          <p:nvPr/>
        </p:nvSpPr>
        <p:spPr>
          <a:xfrm>
            <a:off x="4754880" y="1691640"/>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detect source code commits from GitHub.</a:t>
            </a:r>
            <a:endParaRPr lang="en-US" sz="1250" dirty="0"/>
          </a:p>
        </p:txBody>
      </p:sp>
      <p:sp>
        <p:nvSpPr>
          <p:cNvPr id="9" name="Shape 7"/>
          <p:cNvSpPr/>
          <p:nvPr/>
        </p:nvSpPr>
        <p:spPr>
          <a:xfrm>
            <a:off x="548640" y="2505456"/>
            <a:ext cx="11064240" cy="777240"/>
          </a:xfrm>
          <a:prstGeom prst="roundRect">
            <a:avLst>
              <a:gd name="adj" fmla="val 8235"/>
            </a:avLst>
          </a:prstGeom>
          <a:solidFill>
            <a:srgbClr val="FFFFFF"/>
          </a:solidFill>
          <a:ln w="12700">
            <a:solidFill>
              <a:srgbClr val="DDE5EC"/>
            </a:solidFill>
            <a:prstDash val="solid"/>
          </a:ln>
        </p:spPr>
      </p:sp>
      <p:sp>
        <p:nvSpPr>
          <p:cNvPr id="10" name="Shape 8"/>
          <p:cNvSpPr/>
          <p:nvPr/>
        </p:nvSpPr>
        <p:spPr>
          <a:xfrm>
            <a:off x="548640" y="2505456"/>
            <a:ext cx="1051560" cy="777240"/>
          </a:xfrm>
          <a:prstGeom prst="roundRect">
            <a:avLst>
              <a:gd name="adj" fmla="val 8235"/>
            </a:avLst>
          </a:prstGeom>
          <a:solidFill>
            <a:srgbClr val="0E7C86"/>
          </a:solidFill>
          <a:ln/>
        </p:spPr>
      </p:sp>
      <p:sp>
        <p:nvSpPr>
          <p:cNvPr id="11" name="Text 9"/>
          <p:cNvSpPr/>
          <p:nvPr/>
        </p:nvSpPr>
        <p:spPr>
          <a:xfrm>
            <a:off x="548640" y="2505456"/>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FR-2</a:t>
            </a:r>
            <a:endParaRPr lang="en-US" sz="1400" dirty="0"/>
          </a:p>
        </p:txBody>
      </p:sp>
      <p:sp>
        <p:nvSpPr>
          <p:cNvPr id="12" name="Text 10"/>
          <p:cNvSpPr/>
          <p:nvPr/>
        </p:nvSpPr>
        <p:spPr>
          <a:xfrm>
            <a:off x="1783080" y="2596896"/>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Pipeline Monitoring</a:t>
            </a:r>
            <a:endParaRPr lang="en-US" sz="1350" dirty="0"/>
          </a:p>
        </p:txBody>
      </p:sp>
      <p:sp>
        <p:nvSpPr>
          <p:cNvPr id="13" name="Text 11"/>
          <p:cNvSpPr/>
          <p:nvPr/>
        </p:nvSpPr>
        <p:spPr>
          <a:xfrm>
            <a:off x="4754880" y="2596896"/>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display Jenkins pipeline execution status in real time.</a:t>
            </a:r>
            <a:endParaRPr lang="en-US" sz="1250" dirty="0"/>
          </a:p>
        </p:txBody>
      </p:sp>
      <p:sp>
        <p:nvSpPr>
          <p:cNvPr id="14" name="Shape 12"/>
          <p:cNvSpPr/>
          <p:nvPr/>
        </p:nvSpPr>
        <p:spPr>
          <a:xfrm>
            <a:off x="548640" y="3410712"/>
            <a:ext cx="11064240" cy="777240"/>
          </a:xfrm>
          <a:prstGeom prst="roundRect">
            <a:avLst>
              <a:gd name="adj" fmla="val 8235"/>
            </a:avLst>
          </a:prstGeom>
          <a:solidFill>
            <a:srgbClr val="FFFFFF"/>
          </a:solidFill>
          <a:ln w="12700">
            <a:solidFill>
              <a:srgbClr val="DDE5EC"/>
            </a:solidFill>
            <a:prstDash val="solid"/>
          </a:ln>
        </p:spPr>
      </p:sp>
      <p:sp>
        <p:nvSpPr>
          <p:cNvPr id="15" name="Shape 13"/>
          <p:cNvSpPr/>
          <p:nvPr/>
        </p:nvSpPr>
        <p:spPr>
          <a:xfrm>
            <a:off x="548640" y="3410712"/>
            <a:ext cx="1051560" cy="777240"/>
          </a:xfrm>
          <a:prstGeom prst="roundRect">
            <a:avLst>
              <a:gd name="adj" fmla="val 8235"/>
            </a:avLst>
          </a:prstGeom>
          <a:solidFill>
            <a:srgbClr val="0E7C86"/>
          </a:solidFill>
          <a:ln/>
        </p:spPr>
      </p:sp>
      <p:sp>
        <p:nvSpPr>
          <p:cNvPr id="16" name="Text 14"/>
          <p:cNvSpPr/>
          <p:nvPr/>
        </p:nvSpPr>
        <p:spPr>
          <a:xfrm>
            <a:off x="548640" y="3410712"/>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FR-3</a:t>
            </a:r>
            <a:endParaRPr lang="en-US" sz="1400" dirty="0"/>
          </a:p>
        </p:txBody>
      </p:sp>
      <p:sp>
        <p:nvSpPr>
          <p:cNvPr id="17" name="Text 15"/>
          <p:cNvSpPr/>
          <p:nvPr/>
        </p:nvSpPr>
        <p:spPr>
          <a:xfrm>
            <a:off x="1783080" y="3502152"/>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Build Monitoring</a:t>
            </a:r>
            <a:endParaRPr lang="en-US" sz="1350" dirty="0"/>
          </a:p>
        </p:txBody>
      </p:sp>
      <p:sp>
        <p:nvSpPr>
          <p:cNvPr id="18" name="Text 16"/>
          <p:cNvSpPr/>
          <p:nvPr/>
        </p:nvSpPr>
        <p:spPr>
          <a:xfrm>
            <a:off x="4754880" y="3502152"/>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monitor build execution and display build status.</a:t>
            </a:r>
            <a:endParaRPr lang="en-US" sz="1250" dirty="0"/>
          </a:p>
        </p:txBody>
      </p:sp>
      <p:sp>
        <p:nvSpPr>
          <p:cNvPr id="19" name="Shape 17"/>
          <p:cNvSpPr/>
          <p:nvPr/>
        </p:nvSpPr>
        <p:spPr>
          <a:xfrm>
            <a:off x="548640" y="4315968"/>
            <a:ext cx="11064240" cy="777240"/>
          </a:xfrm>
          <a:prstGeom prst="roundRect">
            <a:avLst>
              <a:gd name="adj" fmla="val 8235"/>
            </a:avLst>
          </a:prstGeom>
          <a:solidFill>
            <a:srgbClr val="FFFFFF"/>
          </a:solidFill>
          <a:ln w="12700">
            <a:solidFill>
              <a:srgbClr val="DDE5EC"/>
            </a:solidFill>
            <a:prstDash val="solid"/>
          </a:ln>
        </p:spPr>
      </p:sp>
      <p:sp>
        <p:nvSpPr>
          <p:cNvPr id="20" name="Shape 18"/>
          <p:cNvSpPr/>
          <p:nvPr/>
        </p:nvSpPr>
        <p:spPr>
          <a:xfrm>
            <a:off x="548640" y="4315968"/>
            <a:ext cx="1051560" cy="777240"/>
          </a:xfrm>
          <a:prstGeom prst="roundRect">
            <a:avLst>
              <a:gd name="adj" fmla="val 8235"/>
            </a:avLst>
          </a:prstGeom>
          <a:solidFill>
            <a:srgbClr val="0E7C86"/>
          </a:solidFill>
          <a:ln/>
        </p:spPr>
      </p:sp>
      <p:sp>
        <p:nvSpPr>
          <p:cNvPr id="21" name="Text 19"/>
          <p:cNvSpPr/>
          <p:nvPr/>
        </p:nvSpPr>
        <p:spPr>
          <a:xfrm>
            <a:off x="548640" y="4315968"/>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FR-4</a:t>
            </a:r>
            <a:endParaRPr lang="en-US" sz="1400" dirty="0"/>
          </a:p>
        </p:txBody>
      </p:sp>
      <p:sp>
        <p:nvSpPr>
          <p:cNvPr id="22" name="Text 20"/>
          <p:cNvSpPr/>
          <p:nvPr/>
        </p:nvSpPr>
        <p:spPr>
          <a:xfrm>
            <a:off x="1783080" y="4407408"/>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Deployment Monitoring</a:t>
            </a:r>
            <a:endParaRPr lang="en-US" sz="1350" dirty="0"/>
          </a:p>
        </p:txBody>
      </p:sp>
      <p:sp>
        <p:nvSpPr>
          <p:cNvPr id="23" name="Text 21"/>
          <p:cNvSpPr/>
          <p:nvPr/>
        </p:nvSpPr>
        <p:spPr>
          <a:xfrm>
            <a:off x="4754880" y="4407408"/>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display deployment progress and deployment results.</a:t>
            </a:r>
            <a:endParaRPr lang="en-US" sz="1250" dirty="0"/>
          </a:p>
        </p:txBody>
      </p:sp>
      <p:sp>
        <p:nvSpPr>
          <p:cNvPr id="24" name="Shape 22"/>
          <p:cNvSpPr/>
          <p:nvPr/>
        </p:nvSpPr>
        <p:spPr>
          <a:xfrm>
            <a:off x="548640" y="5221224"/>
            <a:ext cx="11064240" cy="777240"/>
          </a:xfrm>
          <a:prstGeom prst="roundRect">
            <a:avLst>
              <a:gd name="adj" fmla="val 8235"/>
            </a:avLst>
          </a:prstGeom>
          <a:solidFill>
            <a:srgbClr val="FFFFFF"/>
          </a:solidFill>
          <a:ln w="12700">
            <a:solidFill>
              <a:srgbClr val="DDE5EC"/>
            </a:solidFill>
            <a:prstDash val="solid"/>
          </a:ln>
        </p:spPr>
      </p:sp>
      <p:sp>
        <p:nvSpPr>
          <p:cNvPr id="25" name="Shape 23"/>
          <p:cNvSpPr/>
          <p:nvPr/>
        </p:nvSpPr>
        <p:spPr>
          <a:xfrm>
            <a:off x="548640" y="5221224"/>
            <a:ext cx="1051560" cy="777240"/>
          </a:xfrm>
          <a:prstGeom prst="roundRect">
            <a:avLst>
              <a:gd name="adj" fmla="val 8235"/>
            </a:avLst>
          </a:prstGeom>
          <a:solidFill>
            <a:srgbClr val="0E7C86"/>
          </a:solidFill>
          <a:ln/>
        </p:spPr>
      </p:sp>
      <p:sp>
        <p:nvSpPr>
          <p:cNvPr id="26" name="Text 24"/>
          <p:cNvSpPr/>
          <p:nvPr/>
        </p:nvSpPr>
        <p:spPr>
          <a:xfrm>
            <a:off x="548640" y="5221224"/>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FR-5</a:t>
            </a:r>
            <a:endParaRPr lang="en-US" sz="1400" dirty="0"/>
          </a:p>
        </p:txBody>
      </p:sp>
      <p:sp>
        <p:nvSpPr>
          <p:cNvPr id="27" name="Text 25"/>
          <p:cNvSpPr/>
          <p:nvPr/>
        </p:nvSpPr>
        <p:spPr>
          <a:xfrm>
            <a:off x="1783080" y="5312664"/>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Failure Detection</a:t>
            </a:r>
            <a:endParaRPr lang="en-US" sz="1350" dirty="0"/>
          </a:p>
        </p:txBody>
      </p:sp>
      <p:sp>
        <p:nvSpPr>
          <p:cNvPr id="28" name="Text 26"/>
          <p:cNvSpPr/>
          <p:nvPr/>
        </p:nvSpPr>
        <p:spPr>
          <a:xfrm>
            <a:off x="4754880" y="5312664"/>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identify failed pipeline stages and display error messages.</a:t>
            </a:r>
            <a:endParaRPr lang="en-US" sz="1250" dirty="0"/>
          </a:p>
        </p:txBody>
      </p:sp>
      <p:sp>
        <p:nvSpPr>
          <p:cNvPr id="29" name="Text 27"/>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30" name="Text 2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FUNCTIONAL REQUIREMENTS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Requirements FR-6 to FR-10</a:t>
            </a:r>
            <a:endParaRPr lang="en-US" sz="3000" dirty="0"/>
          </a:p>
        </p:txBody>
      </p:sp>
      <p:sp>
        <p:nvSpPr>
          <p:cNvPr id="4" name="Shape 2"/>
          <p:cNvSpPr/>
          <p:nvPr/>
        </p:nvSpPr>
        <p:spPr>
          <a:xfrm>
            <a:off x="548640" y="1600200"/>
            <a:ext cx="11064240" cy="777240"/>
          </a:xfrm>
          <a:prstGeom prst="roundRect">
            <a:avLst>
              <a:gd name="adj" fmla="val 8235"/>
            </a:avLst>
          </a:prstGeom>
          <a:solidFill>
            <a:srgbClr val="FFFFFF"/>
          </a:solidFill>
          <a:ln w="12700">
            <a:solidFill>
              <a:srgbClr val="DDE5EC"/>
            </a:solidFill>
            <a:prstDash val="solid"/>
          </a:ln>
        </p:spPr>
      </p:sp>
      <p:sp>
        <p:nvSpPr>
          <p:cNvPr id="5" name="Shape 3"/>
          <p:cNvSpPr/>
          <p:nvPr/>
        </p:nvSpPr>
        <p:spPr>
          <a:xfrm>
            <a:off x="548640" y="1600200"/>
            <a:ext cx="1051560" cy="777240"/>
          </a:xfrm>
          <a:prstGeom prst="roundRect">
            <a:avLst>
              <a:gd name="adj" fmla="val 8235"/>
            </a:avLst>
          </a:prstGeom>
          <a:solidFill>
            <a:srgbClr val="0E7C86"/>
          </a:solidFill>
          <a:ln/>
        </p:spPr>
      </p:sp>
      <p:sp>
        <p:nvSpPr>
          <p:cNvPr id="6" name="Text 4"/>
          <p:cNvSpPr/>
          <p:nvPr/>
        </p:nvSpPr>
        <p:spPr>
          <a:xfrm>
            <a:off x="548640" y="1600200"/>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FR-6</a:t>
            </a:r>
            <a:endParaRPr lang="en-US" sz="1400" dirty="0"/>
          </a:p>
        </p:txBody>
      </p:sp>
      <p:sp>
        <p:nvSpPr>
          <p:cNvPr id="7" name="Text 5"/>
          <p:cNvSpPr/>
          <p:nvPr/>
        </p:nvSpPr>
        <p:spPr>
          <a:xfrm>
            <a:off x="1783080" y="1691640"/>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Deployment History</a:t>
            </a:r>
            <a:endParaRPr lang="en-US" sz="1350" dirty="0"/>
          </a:p>
        </p:txBody>
      </p:sp>
      <p:sp>
        <p:nvSpPr>
          <p:cNvPr id="8" name="Text 6"/>
          <p:cNvSpPr/>
          <p:nvPr/>
        </p:nvSpPr>
        <p:spPr>
          <a:xfrm>
            <a:off x="4754880" y="1691640"/>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store deployment records in DynamoDB.</a:t>
            </a:r>
            <a:endParaRPr lang="en-US" sz="1250" dirty="0"/>
          </a:p>
        </p:txBody>
      </p:sp>
      <p:sp>
        <p:nvSpPr>
          <p:cNvPr id="9" name="Shape 7"/>
          <p:cNvSpPr/>
          <p:nvPr/>
        </p:nvSpPr>
        <p:spPr>
          <a:xfrm>
            <a:off x="548640" y="2505456"/>
            <a:ext cx="11064240" cy="777240"/>
          </a:xfrm>
          <a:prstGeom prst="roundRect">
            <a:avLst>
              <a:gd name="adj" fmla="val 8235"/>
            </a:avLst>
          </a:prstGeom>
          <a:solidFill>
            <a:srgbClr val="FFFFFF"/>
          </a:solidFill>
          <a:ln w="12700">
            <a:solidFill>
              <a:srgbClr val="DDE5EC"/>
            </a:solidFill>
            <a:prstDash val="solid"/>
          </a:ln>
        </p:spPr>
      </p:sp>
      <p:sp>
        <p:nvSpPr>
          <p:cNvPr id="10" name="Shape 8"/>
          <p:cNvSpPr/>
          <p:nvPr/>
        </p:nvSpPr>
        <p:spPr>
          <a:xfrm>
            <a:off x="548640" y="2505456"/>
            <a:ext cx="1051560" cy="777240"/>
          </a:xfrm>
          <a:prstGeom prst="roundRect">
            <a:avLst>
              <a:gd name="adj" fmla="val 8235"/>
            </a:avLst>
          </a:prstGeom>
          <a:solidFill>
            <a:srgbClr val="0E7C86"/>
          </a:solidFill>
          <a:ln/>
        </p:spPr>
      </p:sp>
      <p:sp>
        <p:nvSpPr>
          <p:cNvPr id="11" name="Text 9"/>
          <p:cNvSpPr/>
          <p:nvPr/>
        </p:nvSpPr>
        <p:spPr>
          <a:xfrm>
            <a:off x="548640" y="2505456"/>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FR-7</a:t>
            </a:r>
            <a:endParaRPr lang="en-US" sz="1400" dirty="0"/>
          </a:p>
        </p:txBody>
      </p:sp>
      <p:sp>
        <p:nvSpPr>
          <p:cNvPr id="12" name="Text 10"/>
          <p:cNvSpPr/>
          <p:nvPr/>
        </p:nvSpPr>
        <p:spPr>
          <a:xfrm>
            <a:off x="1783080" y="2596896"/>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Infrastructure Monitoring</a:t>
            </a:r>
            <a:endParaRPr lang="en-US" sz="1350" dirty="0"/>
          </a:p>
        </p:txBody>
      </p:sp>
      <p:sp>
        <p:nvSpPr>
          <p:cNvPr id="13" name="Text 11"/>
          <p:cNvSpPr/>
          <p:nvPr/>
        </p:nvSpPr>
        <p:spPr>
          <a:xfrm>
            <a:off x="4754880" y="2596896"/>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retrieve infrastructure metrics from CloudWatch and display them through Grafana.</a:t>
            </a:r>
            <a:endParaRPr lang="en-US" sz="1250" dirty="0"/>
          </a:p>
        </p:txBody>
      </p:sp>
      <p:sp>
        <p:nvSpPr>
          <p:cNvPr id="14" name="Shape 12"/>
          <p:cNvSpPr/>
          <p:nvPr/>
        </p:nvSpPr>
        <p:spPr>
          <a:xfrm>
            <a:off x="548640" y="3410712"/>
            <a:ext cx="11064240" cy="777240"/>
          </a:xfrm>
          <a:prstGeom prst="roundRect">
            <a:avLst>
              <a:gd name="adj" fmla="val 8235"/>
            </a:avLst>
          </a:prstGeom>
          <a:solidFill>
            <a:srgbClr val="FFFFFF"/>
          </a:solidFill>
          <a:ln w="12700">
            <a:solidFill>
              <a:srgbClr val="DDE5EC"/>
            </a:solidFill>
            <a:prstDash val="solid"/>
          </a:ln>
        </p:spPr>
      </p:sp>
      <p:sp>
        <p:nvSpPr>
          <p:cNvPr id="15" name="Shape 13"/>
          <p:cNvSpPr/>
          <p:nvPr/>
        </p:nvSpPr>
        <p:spPr>
          <a:xfrm>
            <a:off x="548640" y="3410712"/>
            <a:ext cx="1051560" cy="777240"/>
          </a:xfrm>
          <a:prstGeom prst="roundRect">
            <a:avLst>
              <a:gd name="adj" fmla="val 8235"/>
            </a:avLst>
          </a:prstGeom>
          <a:solidFill>
            <a:srgbClr val="0E7C86"/>
          </a:solidFill>
          <a:ln/>
        </p:spPr>
      </p:sp>
      <p:sp>
        <p:nvSpPr>
          <p:cNvPr id="16" name="Text 14"/>
          <p:cNvSpPr/>
          <p:nvPr/>
        </p:nvSpPr>
        <p:spPr>
          <a:xfrm>
            <a:off x="548640" y="3410712"/>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FR-8</a:t>
            </a:r>
            <a:endParaRPr lang="en-US" sz="1400" dirty="0"/>
          </a:p>
        </p:txBody>
      </p:sp>
      <p:sp>
        <p:nvSpPr>
          <p:cNvPr id="17" name="Text 15"/>
          <p:cNvSpPr/>
          <p:nvPr/>
        </p:nvSpPr>
        <p:spPr>
          <a:xfrm>
            <a:off x="1783080" y="3502152"/>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Notifications</a:t>
            </a:r>
            <a:endParaRPr lang="en-US" sz="1350" dirty="0"/>
          </a:p>
        </p:txBody>
      </p:sp>
      <p:sp>
        <p:nvSpPr>
          <p:cNvPr id="18" name="Text 16"/>
          <p:cNvSpPr/>
          <p:nvPr/>
        </p:nvSpPr>
        <p:spPr>
          <a:xfrm>
            <a:off x="4754880" y="3502152"/>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send notifications using n8n whenever important deployment events occur.</a:t>
            </a:r>
            <a:endParaRPr lang="en-US" sz="1250" dirty="0"/>
          </a:p>
        </p:txBody>
      </p:sp>
      <p:sp>
        <p:nvSpPr>
          <p:cNvPr id="19" name="Shape 17"/>
          <p:cNvSpPr/>
          <p:nvPr/>
        </p:nvSpPr>
        <p:spPr>
          <a:xfrm>
            <a:off x="548640" y="4315968"/>
            <a:ext cx="11064240" cy="777240"/>
          </a:xfrm>
          <a:prstGeom prst="roundRect">
            <a:avLst>
              <a:gd name="adj" fmla="val 8235"/>
            </a:avLst>
          </a:prstGeom>
          <a:solidFill>
            <a:srgbClr val="FFFFFF"/>
          </a:solidFill>
          <a:ln w="12700">
            <a:solidFill>
              <a:srgbClr val="DDE5EC"/>
            </a:solidFill>
            <a:prstDash val="solid"/>
          </a:ln>
        </p:spPr>
      </p:sp>
      <p:sp>
        <p:nvSpPr>
          <p:cNvPr id="20" name="Shape 18"/>
          <p:cNvSpPr/>
          <p:nvPr/>
        </p:nvSpPr>
        <p:spPr>
          <a:xfrm>
            <a:off x="548640" y="4315968"/>
            <a:ext cx="1051560" cy="777240"/>
          </a:xfrm>
          <a:prstGeom prst="roundRect">
            <a:avLst>
              <a:gd name="adj" fmla="val 8235"/>
            </a:avLst>
          </a:prstGeom>
          <a:solidFill>
            <a:srgbClr val="0E7C86"/>
          </a:solidFill>
          <a:ln/>
        </p:spPr>
      </p:sp>
      <p:sp>
        <p:nvSpPr>
          <p:cNvPr id="21" name="Text 19"/>
          <p:cNvSpPr/>
          <p:nvPr/>
        </p:nvSpPr>
        <p:spPr>
          <a:xfrm>
            <a:off x="548640" y="4315968"/>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FR-9</a:t>
            </a:r>
            <a:endParaRPr lang="en-US" sz="1400" dirty="0"/>
          </a:p>
        </p:txBody>
      </p:sp>
      <p:sp>
        <p:nvSpPr>
          <p:cNvPr id="22" name="Text 20"/>
          <p:cNvSpPr/>
          <p:nvPr/>
        </p:nvSpPr>
        <p:spPr>
          <a:xfrm>
            <a:off x="1783080" y="4407408"/>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Analytics</a:t>
            </a:r>
            <a:endParaRPr lang="en-US" sz="1350" dirty="0"/>
          </a:p>
        </p:txBody>
      </p:sp>
      <p:sp>
        <p:nvSpPr>
          <p:cNvPr id="23" name="Text 21"/>
          <p:cNvSpPr/>
          <p:nvPr/>
        </p:nvSpPr>
        <p:spPr>
          <a:xfrm>
            <a:off x="4754880" y="4407408"/>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generate deployment statistics and performance metrics.</a:t>
            </a:r>
            <a:endParaRPr lang="en-US" sz="1250" dirty="0"/>
          </a:p>
        </p:txBody>
      </p:sp>
      <p:sp>
        <p:nvSpPr>
          <p:cNvPr id="24" name="Shape 22"/>
          <p:cNvSpPr/>
          <p:nvPr/>
        </p:nvSpPr>
        <p:spPr>
          <a:xfrm>
            <a:off x="548640" y="5221224"/>
            <a:ext cx="11064240" cy="777240"/>
          </a:xfrm>
          <a:prstGeom prst="roundRect">
            <a:avLst>
              <a:gd name="adj" fmla="val 8235"/>
            </a:avLst>
          </a:prstGeom>
          <a:solidFill>
            <a:srgbClr val="FFFFFF"/>
          </a:solidFill>
          <a:ln w="12700">
            <a:solidFill>
              <a:srgbClr val="DDE5EC"/>
            </a:solidFill>
            <a:prstDash val="solid"/>
          </a:ln>
        </p:spPr>
      </p:sp>
      <p:sp>
        <p:nvSpPr>
          <p:cNvPr id="25" name="Shape 23"/>
          <p:cNvSpPr/>
          <p:nvPr/>
        </p:nvSpPr>
        <p:spPr>
          <a:xfrm>
            <a:off x="548640" y="5221224"/>
            <a:ext cx="1051560" cy="777240"/>
          </a:xfrm>
          <a:prstGeom prst="roundRect">
            <a:avLst>
              <a:gd name="adj" fmla="val 8235"/>
            </a:avLst>
          </a:prstGeom>
          <a:solidFill>
            <a:srgbClr val="0E7C86"/>
          </a:solidFill>
          <a:ln/>
        </p:spPr>
      </p:sp>
      <p:sp>
        <p:nvSpPr>
          <p:cNvPr id="26" name="Text 24"/>
          <p:cNvSpPr/>
          <p:nvPr/>
        </p:nvSpPr>
        <p:spPr>
          <a:xfrm>
            <a:off x="548640" y="5221224"/>
            <a:ext cx="105156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FR-10</a:t>
            </a:r>
            <a:endParaRPr lang="en-US" sz="1400" dirty="0"/>
          </a:p>
        </p:txBody>
      </p:sp>
      <p:sp>
        <p:nvSpPr>
          <p:cNvPr id="27" name="Text 25"/>
          <p:cNvSpPr/>
          <p:nvPr/>
        </p:nvSpPr>
        <p:spPr>
          <a:xfrm>
            <a:off x="1783080" y="5312664"/>
            <a:ext cx="2834640" cy="594360"/>
          </a:xfrm>
          <a:prstGeom prst="rect">
            <a:avLst/>
          </a:prstGeom>
          <a:noFill/>
          <a:ln/>
        </p:spPr>
        <p:txBody>
          <a:bodyPr wrap="square"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Log Monitoring</a:t>
            </a:r>
            <a:endParaRPr lang="en-US" sz="1350" dirty="0"/>
          </a:p>
        </p:txBody>
      </p:sp>
      <p:sp>
        <p:nvSpPr>
          <p:cNvPr id="28" name="Text 26"/>
          <p:cNvSpPr/>
          <p:nvPr/>
        </p:nvSpPr>
        <p:spPr>
          <a:xfrm>
            <a:off x="4754880" y="5312664"/>
            <a:ext cx="6675120" cy="594360"/>
          </a:xfrm>
          <a:prstGeom prst="rect">
            <a:avLst/>
          </a:prstGeom>
          <a:noFill/>
          <a:ln/>
        </p:spPr>
        <p:txBody>
          <a:bodyPr wrap="square" rtlCol="0" anchor="ctr"/>
          <a:lstStyle/>
          <a:p>
            <a:pPr indent="0" marL="0">
              <a:lnSpc>
                <a:spcPct val="110000"/>
              </a:lnSpc>
              <a:buNone/>
            </a:pPr>
            <a:r>
              <a:rPr lang="en-US" sz="1250" dirty="0">
                <a:solidFill>
                  <a:srgbClr val="1A2430"/>
                </a:solidFill>
                <a:latin typeface="Calibri" pitchFamily="34" charset="0"/>
                <a:ea typeface="Calibri" pitchFamily="34" charset="-122"/>
                <a:cs typeface="Calibri" pitchFamily="34" charset="-120"/>
              </a:rPr>
              <a:t>The system shall provide access to deployment and application logs.</a:t>
            </a:r>
            <a:endParaRPr lang="en-US" sz="1250" dirty="0"/>
          </a:p>
        </p:txBody>
      </p:sp>
      <p:sp>
        <p:nvSpPr>
          <p:cNvPr id="29" name="Text 27"/>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30" name="Text 28"/>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REQUIREMENTS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Non-Functional Requirements</a:t>
            </a:r>
            <a:endParaRPr lang="en-US" sz="3000" dirty="0"/>
          </a:p>
        </p:txBody>
      </p:sp>
      <p:sp>
        <p:nvSpPr>
          <p:cNvPr id="4" name="Shape 2"/>
          <p:cNvSpPr/>
          <p:nvPr/>
        </p:nvSpPr>
        <p:spPr>
          <a:xfrm>
            <a:off x="548640" y="1554480"/>
            <a:ext cx="3520440" cy="1965960"/>
          </a:xfrm>
          <a:prstGeom prst="roundRect">
            <a:avLst>
              <a:gd name="adj" fmla="val 4186"/>
            </a:avLst>
          </a:prstGeom>
          <a:solidFill>
            <a:srgbClr val="EEF3F6"/>
          </a:solidFill>
          <a:ln/>
        </p:spPr>
      </p:sp>
      <p:sp>
        <p:nvSpPr>
          <p:cNvPr id="5" name="Shape 3"/>
          <p:cNvSpPr/>
          <p:nvPr/>
        </p:nvSpPr>
        <p:spPr>
          <a:xfrm>
            <a:off x="768096" y="1773936"/>
            <a:ext cx="438912" cy="438912"/>
          </a:xfrm>
          <a:prstGeom prst="ellipse">
            <a:avLst/>
          </a:prstGeom>
          <a:solidFill>
            <a:srgbClr val="12233F"/>
          </a:solidFill>
          <a:ln/>
        </p:spPr>
      </p:sp>
      <p:sp>
        <p:nvSpPr>
          <p:cNvPr id="6" name="Text 4"/>
          <p:cNvSpPr/>
          <p:nvPr/>
        </p:nvSpPr>
        <p:spPr>
          <a:xfrm>
            <a:off x="768096" y="1773936"/>
            <a:ext cx="438912" cy="438912"/>
          </a:xfrm>
          <a:prstGeom prst="rect">
            <a:avLst/>
          </a:prstGeom>
          <a:noFill/>
          <a:ln/>
        </p:spPr>
        <p:txBody>
          <a:bodyPr wrap="square"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1</a:t>
            </a:r>
            <a:endParaRPr lang="en-US" sz="1248" dirty="0"/>
          </a:p>
        </p:txBody>
      </p:sp>
      <p:sp>
        <p:nvSpPr>
          <p:cNvPr id="7" name="Text 5"/>
          <p:cNvSpPr/>
          <p:nvPr/>
        </p:nvSpPr>
        <p:spPr>
          <a:xfrm>
            <a:off x="768096" y="2331720"/>
            <a:ext cx="3081528" cy="365760"/>
          </a:xfrm>
          <a:prstGeom prst="rect">
            <a:avLst/>
          </a:prstGeom>
          <a:noFill/>
          <a:ln/>
        </p:spPr>
        <p:txBody>
          <a:bodyPr wrap="square"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Performance</a:t>
            </a:r>
            <a:endParaRPr lang="en-US" sz="1500" dirty="0"/>
          </a:p>
        </p:txBody>
      </p:sp>
      <p:sp>
        <p:nvSpPr>
          <p:cNvPr id="8" name="Text 6"/>
          <p:cNvSpPr/>
          <p:nvPr/>
        </p:nvSpPr>
        <p:spPr>
          <a:xfrm>
            <a:off x="768096" y="2697480"/>
            <a:ext cx="3081528" cy="731520"/>
          </a:xfrm>
          <a:prstGeom prst="rect">
            <a:avLst/>
          </a:prstGeom>
          <a:noFill/>
          <a:ln/>
        </p:spPr>
        <p:txBody>
          <a:bodyPr wrap="square" rtlCol="0" anchor="ctr"/>
          <a:lstStyle/>
          <a:p>
            <a:pPr indent="0" marL="0">
              <a:lnSpc>
                <a:spcPct val="115000"/>
              </a:lnSpc>
              <a:buNone/>
            </a:pPr>
            <a:r>
              <a:rPr lang="en-US" sz="1100" dirty="0">
                <a:solidFill>
                  <a:srgbClr val="5B6B7C"/>
                </a:solidFill>
                <a:latin typeface="Calibri" pitchFamily="34" charset="0"/>
                <a:ea typeface="Calibri" pitchFamily="34" charset="-122"/>
                <a:cs typeface="Calibri" pitchFamily="34" charset="-120"/>
              </a:rPr>
              <a:t>Dashboard response under 3 seconds; pipeline updates appear within seconds of status change.</a:t>
            </a:r>
            <a:endParaRPr lang="en-US" sz="1100" dirty="0"/>
          </a:p>
        </p:txBody>
      </p:sp>
      <p:sp>
        <p:nvSpPr>
          <p:cNvPr id="9" name="Shape 7"/>
          <p:cNvSpPr/>
          <p:nvPr/>
        </p:nvSpPr>
        <p:spPr>
          <a:xfrm>
            <a:off x="4325112" y="1554480"/>
            <a:ext cx="3520440" cy="1965960"/>
          </a:xfrm>
          <a:prstGeom prst="roundRect">
            <a:avLst>
              <a:gd name="adj" fmla="val 4186"/>
            </a:avLst>
          </a:prstGeom>
          <a:solidFill>
            <a:srgbClr val="EEF3F6"/>
          </a:solidFill>
          <a:ln/>
        </p:spPr>
      </p:sp>
      <p:sp>
        <p:nvSpPr>
          <p:cNvPr id="10" name="Shape 8"/>
          <p:cNvSpPr/>
          <p:nvPr/>
        </p:nvSpPr>
        <p:spPr>
          <a:xfrm>
            <a:off x="4544568" y="1773936"/>
            <a:ext cx="438912" cy="438912"/>
          </a:xfrm>
          <a:prstGeom prst="ellipse">
            <a:avLst/>
          </a:prstGeom>
          <a:solidFill>
            <a:srgbClr val="0E7C86"/>
          </a:solidFill>
          <a:ln/>
        </p:spPr>
      </p:sp>
      <p:sp>
        <p:nvSpPr>
          <p:cNvPr id="11" name="Text 9"/>
          <p:cNvSpPr/>
          <p:nvPr/>
        </p:nvSpPr>
        <p:spPr>
          <a:xfrm>
            <a:off x="4544568" y="1773936"/>
            <a:ext cx="438912" cy="438912"/>
          </a:xfrm>
          <a:prstGeom prst="rect">
            <a:avLst/>
          </a:prstGeom>
          <a:noFill/>
          <a:ln/>
        </p:spPr>
        <p:txBody>
          <a:bodyPr wrap="square"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2</a:t>
            </a:r>
            <a:endParaRPr lang="en-US" sz="1248" dirty="0"/>
          </a:p>
        </p:txBody>
      </p:sp>
      <p:sp>
        <p:nvSpPr>
          <p:cNvPr id="12" name="Text 10"/>
          <p:cNvSpPr/>
          <p:nvPr/>
        </p:nvSpPr>
        <p:spPr>
          <a:xfrm>
            <a:off x="4544568" y="2331720"/>
            <a:ext cx="3081528" cy="365760"/>
          </a:xfrm>
          <a:prstGeom prst="rect">
            <a:avLst/>
          </a:prstGeom>
          <a:noFill/>
          <a:ln/>
        </p:spPr>
        <p:txBody>
          <a:bodyPr wrap="square"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Availability</a:t>
            </a:r>
            <a:endParaRPr lang="en-US" sz="1500" dirty="0"/>
          </a:p>
        </p:txBody>
      </p:sp>
      <p:sp>
        <p:nvSpPr>
          <p:cNvPr id="13" name="Text 11"/>
          <p:cNvSpPr/>
          <p:nvPr/>
        </p:nvSpPr>
        <p:spPr>
          <a:xfrm>
            <a:off x="4544568" y="2697480"/>
            <a:ext cx="3081528" cy="731520"/>
          </a:xfrm>
          <a:prstGeom prst="rect">
            <a:avLst/>
          </a:prstGeom>
          <a:noFill/>
          <a:ln/>
        </p:spPr>
        <p:txBody>
          <a:bodyPr wrap="square" rtlCol="0" anchor="ctr"/>
          <a:lstStyle/>
          <a:p>
            <a:pPr indent="0" marL="0">
              <a:lnSpc>
                <a:spcPct val="115000"/>
              </a:lnSpc>
              <a:buNone/>
            </a:pPr>
            <a:r>
              <a:rPr lang="en-US" sz="1100" dirty="0">
                <a:solidFill>
                  <a:srgbClr val="5B6B7C"/>
                </a:solidFill>
                <a:latin typeface="Calibri" pitchFamily="34" charset="0"/>
                <a:ea typeface="Calibri" pitchFamily="34" charset="-122"/>
                <a:cs typeface="Calibri" pitchFamily="34" charset="-120"/>
              </a:rPr>
              <a:t>System remains available during monitoring; dashboard recovers automatically after refresh.</a:t>
            </a:r>
            <a:endParaRPr lang="en-US" sz="1100" dirty="0"/>
          </a:p>
        </p:txBody>
      </p:sp>
      <p:sp>
        <p:nvSpPr>
          <p:cNvPr id="14" name="Shape 12"/>
          <p:cNvSpPr/>
          <p:nvPr/>
        </p:nvSpPr>
        <p:spPr>
          <a:xfrm>
            <a:off x="8101584" y="1554480"/>
            <a:ext cx="3520440" cy="1965960"/>
          </a:xfrm>
          <a:prstGeom prst="roundRect">
            <a:avLst>
              <a:gd name="adj" fmla="val 4186"/>
            </a:avLst>
          </a:prstGeom>
          <a:solidFill>
            <a:srgbClr val="EEF3F6"/>
          </a:solidFill>
          <a:ln/>
        </p:spPr>
      </p:sp>
      <p:sp>
        <p:nvSpPr>
          <p:cNvPr id="15" name="Shape 13"/>
          <p:cNvSpPr/>
          <p:nvPr/>
        </p:nvSpPr>
        <p:spPr>
          <a:xfrm>
            <a:off x="8321040" y="1773936"/>
            <a:ext cx="438912" cy="438912"/>
          </a:xfrm>
          <a:prstGeom prst="ellipse">
            <a:avLst/>
          </a:prstGeom>
          <a:solidFill>
            <a:srgbClr val="12233F"/>
          </a:solidFill>
          <a:ln/>
        </p:spPr>
      </p:sp>
      <p:sp>
        <p:nvSpPr>
          <p:cNvPr id="16" name="Text 14"/>
          <p:cNvSpPr/>
          <p:nvPr/>
        </p:nvSpPr>
        <p:spPr>
          <a:xfrm>
            <a:off x="8321040" y="1773936"/>
            <a:ext cx="438912" cy="438912"/>
          </a:xfrm>
          <a:prstGeom prst="rect">
            <a:avLst/>
          </a:prstGeom>
          <a:noFill/>
          <a:ln/>
        </p:spPr>
        <p:txBody>
          <a:bodyPr wrap="square"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3</a:t>
            </a:r>
            <a:endParaRPr lang="en-US" sz="1248" dirty="0"/>
          </a:p>
        </p:txBody>
      </p:sp>
      <p:sp>
        <p:nvSpPr>
          <p:cNvPr id="17" name="Text 15"/>
          <p:cNvSpPr/>
          <p:nvPr/>
        </p:nvSpPr>
        <p:spPr>
          <a:xfrm>
            <a:off x="8321040" y="2331720"/>
            <a:ext cx="3081528" cy="365760"/>
          </a:xfrm>
          <a:prstGeom prst="rect">
            <a:avLst/>
          </a:prstGeom>
          <a:noFill/>
          <a:ln/>
        </p:spPr>
        <p:txBody>
          <a:bodyPr wrap="square"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Scalability</a:t>
            </a:r>
            <a:endParaRPr lang="en-US" sz="1500" dirty="0"/>
          </a:p>
        </p:txBody>
      </p:sp>
      <p:sp>
        <p:nvSpPr>
          <p:cNvPr id="18" name="Text 16"/>
          <p:cNvSpPr/>
          <p:nvPr/>
        </p:nvSpPr>
        <p:spPr>
          <a:xfrm>
            <a:off x="8321040" y="2697480"/>
            <a:ext cx="3081528" cy="731520"/>
          </a:xfrm>
          <a:prstGeom prst="rect">
            <a:avLst/>
          </a:prstGeom>
          <a:noFill/>
          <a:ln/>
        </p:spPr>
        <p:txBody>
          <a:bodyPr wrap="square" rtlCol="0" anchor="ctr"/>
          <a:lstStyle/>
          <a:p>
            <a:pPr indent="0" marL="0">
              <a:lnSpc>
                <a:spcPct val="115000"/>
              </a:lnSpc>
              <a:buNone/>
            </a:pPr>
            <a:r>
              <a:rPr lang="en-US" sz="1100" dirty="0">
                <a:solidFill>
                  <a:srgbClr val="5B6B7C"/>
                </a:solidFill>
                <a:latin typeface="Calibri" pitchFamily="34" charset="0"/>
                <a:ea typeface="Calibri" pitchFamily="34" charset="-122"/>
                <a:cs typeface="Calibri" pitchFamily="34" charset="-120"/>
              </a:rPr>
              <a:t>Future versions support multiple Jenkins servers, AWS accounts, projects, and environments.</a:t>
            </a:r>
            <a:endParaRPr lang="en-US" sz="1100" dirty="0"/>
          </a:p>
        </p:txBody>
      </p:sp>
      <p:sp>
        <p:nvSpPr>
          <p:cNvPr id="19" name="Shape 17"/>
          <p:cNvSpPr/>
          <p:nvPr/>
        </p:nvSpPr>
        <p:spPr>
          <a:xfrm>
            <a:off x="548640" y="3721608"/>
            <a:ext cx="3520440" cy="1965960"/>
          </a:xfrm>
          <a:prstGeom prst="roundRect">
            <a:avLst>
              <a:gd name="adj" fmla="val 4186"/>
            </a:avLst>
          </a:prstGeom>
          <a:solidFill>
            <a:srgbClr val="EEF3F6"/>
          </a:solidFill>
          <a:ln/>
        </p:spPr>
      </p:sp>
      <p:sp>
        <p:nvSpPr>
          <p:cNvPr id="20" name="Shape 18"/>
          <p:cNvSpPr/>
          <p:nvPr/>
        </p:nvSpPr>
        <p:spPr>
          <a:xfrm>
            <a:off x="768096" y="3941064"/>
            <a:ext cx="438912" cy="438912"/>
          </a:xfrm>
          <a:prstGeom prst="ellipse">
            <a:avLst/>
          </a:prstGeom>
          <a:solidFill>
            <a:srgbClr val="0E7C86"/>
          </a:solidFill>
          <a:ln/>
        </p:spPr>
      </p:sp>
      <p:sp>
        <p:nvSpPr>
          <p:cNvPr id="21" name="Text 19"/>
          <p:cNvSpPr/>
          <p:nvPr/>
        </p:nvSpPr>
        <p:spPr>
          <a:xfrm>
            <a:off x="768096" y="3941064"/>
            <a:ext cx="438912" cy="438912"/>
          </a:xfrm>
          <a:prstGeom prst="rect">
            <a:avLst/>
          </a:prstGeom>
          <a:noFill/>
          <a:ln/>
        </p:spPr>
        <p:txBody>
          <a:bodyPr wrap="square"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4</a:t>
            </a:r>
            <a:endParaRPr lang="en-US" sz="1248" dirty="0"/>
          </a:p>
        </p:txBody>
      </p:sp>
      <p:sp>
        <p:nvSpPr>
          <p:cNvPr id="22" name="Text 20"/>
          <p:cNvSpPr/>
          <p:nvPr/>
        </p:nvSpPr>
        <p:spPr>
          <a:xfrm>
            <a:off x="768096" y="4498848"/>
            <a:ext cx="3081528" cy="365760"/>
          </a:xfrm>
          <a:prstGeom prst="rect">
            <a:avLst/>
          </a:prstGeom>
          <a:noFill/>
          <a:ln/>
        </p:spPr>
        <p:txBody>
          <a:bodyPr wrap="square"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Reliability</a:t>
            </a:r>
            <a:endParaRPr lang="en-US" sz="1500" dirty="0"/>
          </a:p>
        </p:txBody>
      </p:sp>
      <p:sp>
        <p:nvSpPr>
          <p:cNvPr id="23" name="Text 21"/>
          <p:cNvSpPr/>
          <p:nvPr/>
        </p:nvSpPr>
        <p:spPr>
          <a:xfrm>
            <a:off x="768096" y="4864608"/>
            <a:ext cx="3081528" cy="731520"/>
          </a:xfrm>
          <a:prstGeom prst="rect">
            <a:avLst/>
          </a:prstGeom>
          <a:noFill/>
          <a:ln/>
        </p:spPr>
        <p:txBody>
          <a:bodyPr wrap="square" rtlCol="0" anchor="ctr"/>
          <a:lstStyle/>
          <a:p>
            <a:pPr indent="0" marL="0">
              <a:lnSpc>
                <a:spcPct val="115000"/>
              </a:lnSpc>
              <a:buNone/>
            </a:pPr>
            <a:r>
              <a:rPr lang="en-US" sz="1100" dirty="0">
                <a:solidFill>
                  <a:srgbClr val="5B6B7C"/>
                </a:solidFill>
                <a:latin typeface="Calibri" pitchFamily="34" charset="0"/>
                <a:ea typeface="Calibri" pitchFamily="34" charset="-122"/>
                <a:cs typeface="Calibri" pitchFamily="34" charset="-120"/>
              </a:rPr>
              <a:t>Deployment history must not be lost during application restart.</a:t>
            </a:r>
            <a:endParaRPr lang="en-US" sz="1100" dirty="0"/>
          </a:p>
        </p:txBody>
      </p:sp>
      <p:sp>
        <p:nvSpPr>
          <p:cNvPr id="24" name="Shape 22"/>
          <p:cNvSpPr/>
          <p:nvPr/>
        </p:nvSpPr>
        <p:spPr>
          <a:xfrm>
            <a:off x="4325112" y="3721608"/>
            <a:ext cx="3520440" cy="1965960"/>
          </a:xfrm>
          <a:prstGeom prst="roundRect">
            <a:avLst>
              <a:gd name="adj" fmla="val 4186"/>
            </a:avLst>
          </a:prstGeom>
          <a:solidFill>
            <a:srgbClr val="EEF3F6"/>
          </a:solidFill>
          <a:ln/>
        </p:spPr>
      </p:sp>
      <p:sp>
        <p:nvSpPr>
          <p:cNvPr id="25" name="Shape 23"/>
          <p:cNvSpPr/>
          <p:nvPr/>
        </p:nvSpPr>
        <p:spPr>
          <a:xfrm>
            <a:off x="4544568" y="3941064"/>
            <a:ext cx="438912" cy="438912"/>
          </a:xfrm>
          <a:prstGeom prst="ellipse">
            <a:avLst/>
          </a:prstGeom>
          <a:solidFill>
            <a:srgbClr val="12233F"/>
          </a:solidFill>
          <a:ln/>
        </p:spPr>
      </p:sp>
      <p:sp>
        <p:nvSpPr>
          <p:cNvPr id="26" name="Text 24"/>
          <p:cNvSpPr/>
          <p:nvPr/>
        </p:nvSpPr>
        <p:spPr>
          <a:xfrm>
            <a:off x="4544568" y="3941064"/>
            <a:ext cx="438912" cy="438912"/>
          </a:xfrm>
          <a:prstGeom prst="rect">
            <a:avLst/>
          </a:prstGeom>
          <a:noFill/>
          <a:ln/>
        </p:spPr>
        <p:txBody>
          <a:bodyPr wrap="square"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5</a:t>
            </a:r>
            <a:endParaRPr lang="en-US" sz="1248" dirty="0"/>
          </a:p>
        </p:txBody>
      </p:sp>
      <p:sp>
        <p:nvSpPr>
          <p:cNvPr id="27" name="Text 25"/>
          <p:cNvSpPr/>
          <p:nvPr/>
        </p:nvSpPr>
        <p:spPr>
          <a:xfrm>
            <a:off x="4544568" y="4498848"/>
            <a:ext cx="3081528" cy="365760"/>
          </a:xfrm>
          <a:prstGeom prst="rect">
            <a:avLst/>
          </a:prstGeom>
          <a:noFill/>
          <a:ln/>
        </p:spPr>
        <p:txBody>
          <a:bodyPr wrap="square"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Security</a:t>
            </a:r>
            <a:endParaRPr lang="en-US" sz="1500" dirty="0"/>
          </a:p>
        </p:txBody>
      </p:sp>
      <p:sp>
        <p:nvSpPr>
          <p:cNvPr id="28" name="Text 26"/>
          <p:cNvSpPr/>
          <p:nvPr/>
        </p:nvSpPr>
        <p:spPr>
          <a:xfrm>
            <a:off x="4544568" y="4864608"/>
            <a:ext cx="3081528" cy="731520"/>
          </a:xfrm>
          <a:prstGeom prst="rect">
            <a:avLst/>
          </a:prstGeom>
          <a:noFill/>
          <a:ln/>
        </p:spPr>
        <p:txBody>
          <a:bodyPr wrap="square" rtlCol="0" anchor="ctr"/>
          <a:lstStyle/>
          <a:p>
            <a:pPr indent="0" marL="0">
              <a:lnSpc>
                <a:spcPct val="115000"/>
              </a:lnSpc>
              <a:buNone/>
            </a:pPr>
            <a:r>
              <a:rPr lang="en-US" sz="1100" dirty="0">
                <a:solidFill>
                  <a:srgbClr val="5B6B7C"/>
                </a:solidFill>
                <a:latin typeface="Calibri" pitchFamily="34" charset="0"/>
                <a:ea typeface="Calibri" pitchFamily="34" charset="-122"/>
                <a:cs typeface="Calibri" pitchFamily="34" charset="-120"/>
              </a:rPr>
              <a:t>IAM roles for AWS access; secure CloudWatch access; no hardcoded secrets; HTTPS in production.</a:t>
            </a:r>
            <a:endParaRPr lang="en-US" sz="1100" dirty="0"/>
          </a:p>
        </p:txBody>
      </p:sp>
      <p:sp>
        <p:nvSpPr>
          <p:cNvPr id="29" name="Shape 27"/>
          <p:cNvSpPr/>
          <p:nvPr/>
        </p:nvSpPr>
        <p:spPr>
          <a:xfrm>
            <a:off x="8101584" y="3721608"/>
            <a:ext cx="3520440" cy="1965960"/>
          </a:xfrm>
          <a:prstGeom prst="roundRect">
            <a:avLst>
              <a:gd name="adj" fmla="val 4186"/>
            </a:avLst>
          </a:prstGeom>
          <a:solidFill>
            <a:srgbClr val="EEF3F6"/>
          </a:solidFill>
          <a:ln/>
        </p:spPr>
      </p:sp>
      <p:sp>
        <p:nvSpPr>
          <p:cNvPr id="30" name="Shape 28"/>
          <p:cNvSpPr/>
          <p:nvPr/>
        </p:nvSpPr>
        <p:spPr>
          <a:xfrm>
            <a:off x="8321040" y="3941064"/>
            <a:ext cx="438912" cy="438912"/>
          </a:xfrm>
          <a:prstGeom prst="ellipse">
            <a:avLst/>
          </a:prstGeom>
          <a:solidFill>
            <a:srgbClr val="0E7C86"/>
          </a:solidFill>
          <a:ln/>
        </p:spPr>
      </p:sp>
      <p:sp>
        <p:nvSpPr>
          <p:cNvPr id="31" name="Text 29"/>
          <p:cNvSpPr/>
          <p:nvPr/>
        </p:nvSpPr>
        <p:spPr>
          <a:xfrm>
            <a:off x="8321040" y="3941064"/>
            <a:ext cx="438912" cy="438912"/>
          </a:xfrm>
          <a:prstGeom prst="rect">
            <a:avLst/>
          </a:prstGeom>
          <a:noFill/>
          <a:ln/>
        </p:spPr>
        <p:txBody>
          <a:bodyPr wrap="square"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6</a:t>
            </a:r>
            <a:endParaRPr lang="en-US" sz="1248" dirty="0"/>
          </a:p>
        </p:txBody>
      </p:sp>
      <p:sp>
        <p:nvSpPr>
          <p:cNvPr id="32" name="Text 30"/>
          <p:cNvSpPr/>
          <p:nvPr/>
        </p:nvSpPr>
        <p:spPr>
          <a:xfrm>
            <a:off x="8321040" y="4498848"/>
            <a:ext cx="3081528" cy="365760"/>
          </a:xfrm>
          <a:prstGeom prst="rect">
            <a:avLst/>
          </a:prstGeom>
          <a:noFill/>
          <a:ln/>
        </p:spPr>
        <p:txBody>
          <a:bodyPr wrap="square"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Maintainability</a:t>
            </a:r>
            <a:endParaRPr lang="en-US" sz="1500" dirty="0"/>
          </a:p>
        </p:txBody>
      </p:sp>
      <p:sp>
        <p:nvSpPr>
          <p:cNvPr id="33" name="Text 31"/>
          <p:cNvSpPr/>
          <p:nvPr/>
        </p:nvSpPr>
        <p:spPr>
          <a:xfrm>
            <a:off x="8321040" y="4864608"/>
            <a:ext cx="3081528" cy="731520"/>
          </a:xfrm>
          <a:prstGeom prst="rect">
            <a:avLst/>
          </a:prstGeom>
          <a:noFill/>
          <a:ln/>
        </p:spPr>
        <p:txBody>
          <a:bodyPr wrap="square" rtlCol="0" anchor="ctr"/>
          <a:lstStyle/>
          <a:p>
            <a:pPr indent="0" marL="0">
              <a:lnSpc>
                <a:spcPct val="115000"/>
              </a:lnSpc>
              <a:buNone/>
            </a:pPr>
            <a:r>
              <a:rPr lang="en-US" sz="1100" dirty="0">
                <a:solidFill>
                  <a:srgbClr val="5B6B7C"/>
                </a:solidFill>
                <a:latin typeface="Calibri" pitchFamily="34" charset="0"/>
                <a:ea typeface="Calibri" pitchFamily="34" charset="-122"/>
                <a:cs typeface="Calibri" pitchFamily="34" charset="-120"/>
              </a:rPr>
              <a:t>Modular architecture so new cloud services and monitoring features can be added easily.</a:t>
            </a:r>
            <a:endParaRPr lang="en-US" sz="1100" dirty="0"/>
          </a:p>
        </p:txBody>
      </p:sp>
      <p:sp>
        <p:nvSpPr>
          <p:cNvPr id="34" name="Text 32"/>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35" name="Text 33"/>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REQUIREMENTS</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External Interface Requirements</a:t>
            </a:r>
            <a:endParaRPr lang="en-US" sz="3000" dirty="0"/>
          </a:p>
        </p:txBody>
      </p:sp>
      <p:sp>
        <p:nvSpPr>
          <p:cNvPr id="4" name="Shape 2"/>
          <p:cNvSpPr/>
          <p:nvPr/>
        </p:nvSpPr>
        <p:spPr>
          <a:xfrm>
            <a:off x="548640" y="1554480"/>
            <a:ext cx="3566160" cy="4572000"/>
          </a:xfrm>
          <a:prstGeom prst="roundRect">
            <a:avLst>
              <a:gd name="adj" fmla="val 2308"/>
            </a:avLst>
          </a:prstGeom>
          <a:solidFill>
            <a:srgbClr val="FFFFFF"/>
          </a:solidFill>
          <a:ln w="12700">
            <a:solidFill>
              <a:srgbClr val="DDE5EC"/>
            </a:solidFill>
            <a:prstDash val="solid"/>
          </a:ln>
        </p:spPr>
      </p:sp>
      <p:sp>
        <p:nvSpPr>
          <p:cNvPr id="5" name="Text 3"/>
          <p:cNvSpPr/>
          <p:nvPr/>
        </p:nvSpPr>
        <p:spPr>
          <a:xfrm>
            <a:off x="822960" y="1783080"/>
            <a:ext cx="3017520" cy="365760"/>
          </a:xfrm>
          <a:prstGeom prst="rect">
            <a:avLst/>
          </a:prstGeom>
          <a:noFill/>
          <a:ln/>
        </p:spPr>
        <p:txBody>
          <a:bodyPr wrap="square" rtlCol="0" anchor="ctr"/>
          <a:lstStyle/>
          <a:p>
            <a:pPr indent="0" marL="0">
              <a:buNone/>
            </a:pPr>
            <a:r>
              <a:rPr lang="en-US" sz="1200" b="1" spc="100" kern="0" dirty="0">
                <a:solidFill>
                  <a:srgbClr val="12233F"/>
                </a:solidFill>
                <a:latin typeface="Calibri" pitchFamily="34" charset="0"/>
                <a:ea typeface="Calibri" pitchFamily="34" charset="-122"/>
                <a:cs typeface="Calibri" pitchFamily="34" charset="-120"/>
              </a:rPr>
              <a:t>USER INTERFACE</a:t>
            </a:r>
            <a:endParaRPr lang="en-US" sz="1200" dirty="0"/>
          </a:p>
        </p:txBody>
      </p:sp>
      <p:sp>
        <p:nvSpPr>
          <p:cNvPr id="6" name="Shape 4"/>
          <p:cNvSpPr/>
          <p:nvPr/>
        </p:nvSpPr>
        <p:spPr>
          <a:xfrm>
            <a:off x="822960" y="2340864"/>
            <a:ext cx="91440" cy="91440"/>
          </a:xfrm>
          <a:prstGeom prst="ellipse">
            <a:avLst/>
          </a:prstGeom>
          <a:solidFill>
            <a:srgbClr val="0E7C86"/>
          </a:solidFill>
          <a:ln/>
        </p:spPr>
      </p:sp>
      <p:sp>
        <p:nvSpPr>
          <p:cNvPr id="7" name="Text 5"/>
          <p:cNvSpPr/>
          <p:nvPr/>
        </p:nvSpPr>
        <p:spPr>
          <a:xfrm>
            <a:off x="1051560" y="2194560"/>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Sidebar navigation</a:t>
            </a:r>
            <a:endParaRPr lang="en-US" sz="1250" dirty="0"/>
          </a:p>
        </p:txBody>
      </p:sp>
      <p:sp>
        <p:nvSpPr>
          <p:cNvPr id="8" name="Shape 6"/>
          <p:cNvSpPr/>
          <p:nvPr/>
        </p:nvSpPr>
        <p:spPr>
          <a:xfrm>
            <a:off x="822960" y="2743200"/>
            <a:ext cx="91440" cy="91440"/>
          </a:xfrm>
          <a:prstGeom prst="ellipse">
            <a:avLst/>
          </a:prstGeom>
          <a:solidFill>
            <a:srgbClr val="0E7C86"/>
          </a:solidFill>
          <a:ln/>
        </p:spPr>
      </p:sp>
      <p:sp>
        <p:nvSpPr>
          <p:cNvPr id="9" name="Text 7"/>
          <p:cNvSpPr/>
          <p:nvPr/>
        </p:nvSpPr>
        <p:spPr>
          <a:xfrm>
            <a:off x="1051560" y="2596896"/>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KPI cards &amp; tables</a:t>
            </a:r>
            <a:endParaRPr lang="en-US" sz="1250" dirty="0"/>
          </a:p>
        </p:txBody>
      </p:sp>
      <p:sp>
        <p:nvSpPr>
          <p:cNvPr id="10" name="Shape 8"/>
          <p:cNvSpPr/>
          <p:nvPr/>
        </p:nvSpPr>
        <p:spPr>
          <a:xfrm>
            <a:off x="822960" y="3145536"/>
            <a:ext cx="91440" cy="91440"/>
          </a:xfrm>
          <a:prstGeom prst="ellipse">
            <a:avLst/>
          </a:prstGeom>
          <a:solidFill>
            <a:srgbClr val="0E7C86"/>
          </a:solidFill>
          <a:ln/>
        </p:spPr>
      </p:sp>
      <p:sp>
        <p:nvSpPr>
          <p:cNvPr id="11" name="Text 9"/>
          <p:cNvSpPr/>
          <p:nvPr/>
        </p:nvSpPr>
        <p:spPr>
          <a:xfrm>
            <a:off x="1051560" y="2999232"/>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Status indicators</a:t>
            </a:r>
            <a:endParaRPr lang="en-US" sz="1250" dirty="0"/>
          </a:p>
        </p:txBody>
      </p:sp>
      <p:sp>
        <p:nvSpPr>
          <p:cNvPr id="12" name="Shape 10"/>
          <p:cNvSpPr/>
          <p:nvPr/>
        </p:nvSpPr>
        <p:spPr>
          <a:xfrm>
            <a:off x="822960" y="3547872"/>
            <a:ext cx="91440" cy="91440"/>
          </a:xfrm>
          <a:prstGeom prst="ellipse">
            <a:avLst/>
          </a:prstGeom>
          <a:solidFill>
            <a:srgbClr val="0E7C86"/>
          </a:solidFill>
          <a:ln/>
        </p:spPr>
      </p:sp>
      <p:sp>
        <p:nvSpPr>
          <p:cNvPr id="13" name="Text 11"/>
          <p:cNvSpPr/>
          <p:nvPr/>
        </p:nvSpPr>
        <p:spPr>
          <a:xfrm>
            <a:off x="1051560" y="3401568"/>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Charts</a:t>
            </a:r>
            <a:endParaRPr lang="en-US" sz="1250" dirty="0"/>
          </a:p>
        </p:txBody>
      </p:sp>
      <p:sp>
        <p:nvSpPr>
          <p:cNvPr id="14" name="Shape 12"/>
          <p:cNvSpPr/>
          <p:nvPr/>
        </p:nvSpPr>
        <p:spPr>
          <a:xfrm>
            <a:off x="822960" y="3950208"/>
            <a:ext cx="91440" cy="91440"/>
          </a:xfrm>
          <a:prstGeom prst="ellipse">
            <a:avLst/>
          </a:prstGeom>
          <a:solidFill>
            <a:srgbClr val="0E7C86"/>
          </a:solidFill>
          <a:ln/>
        </p:spPr>
      </p:sp>
      <p:sp>
        <p:nvSpPr>
          <p:cNvPr id="15" name="Text 13"/>
          <p:cNvSpPr/>
          <p:nvPr/>
        </p:nvSpPr>
        <p:spPr>
          <a:xfrm>
            <a:off x="1051560" y="3803904"/>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Embedded Grafana panels</a:t>
            </a:r>
            <a:endParaRPr lang="en-US" sz="1250" dirty="0"/>
          </a:p>
        </p:txBody>
      </p:sp>
      <p:sp>
        <p:nvSpPr>
          <p:cNvPr id="16" name="Shape 14"/>
          <p:cNvSpPr/>
          <p:nvPr/>
        </p:nvSpPr>
        <p:spPr>
          <a:xfrm>
            <a:off x="822960" y="4352544"/>
            <a:ext cx="91440" cy="91440"/>
          </a:xfrm>
          <a:prstGeom prst="ellipse">
            <a:avLst/>
          </a:prstGeom>
          <a:solidFill>
            <a:srgbClr val="0E7C86"/>
          </a:solidFill>
          <a:ln/>
        </p:spPr>
      </p:sp>
      <p:sp>
        <p:nvSpPr>
          <p:cNvPr id="17" name="Text 15"/>
          <p:cNvSpPr/>
          <p:nvPr/>
        </p:nvSpPr>
        <p:spPr>
          <a:xfrm>
            <a:off x="1051560" y="4206240"/>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Notifications</a:t>
            </a:r>
            <a:endParaRPr lang="en-US" sz="1250" dirty="0"/>
          </a:p>
        </p:txBody>
      </p:sp>
      <p:sp>
        <p:nvSpPr>
          <p:cNvPr id="18" name="Shape 16"/>
          <p:cNvSpPr/>
          <p:nvPr/>
        </p:nvSpPr>
        <p:spPr>
          <a:xfrm>
            <a:off x="4343400" y="1554480"/>
            <a:ext cx="3566160" cy="4572000"/>
          </a:xfrm>
          <a:prstGeom prst="roundRect">
            <a:avLst>
              <a:gd name="adj" fmla="val 2308"/>
            </a:avLst>
          </a:prstGeom>
          <a:solidFill>
            <a:srgbClr val="FCEEDA"/>
          </a:solidFill>
          <a:ln w="12700">
            <a:solidFill>
              <a:srgbClr val="DDE5EC"/>
            </a:solidFill>
            <a:prstDash val="solid"/>
          </a:ln>
        </p:spPr>
      </p:sp>
      <p:sp>
        <p:nvSpPr>
          <p:cNvPr id="19" name="Text 17"/>
          <p:cNvSpPr/>
          <p:nvPr/>
        </p:nvSpPr>
        <p:spPr>
          <a:xfrm>
            <a:off x="4617720" y="1783080"/>
            <a:ext cx="3017520" cy="365760"/>
          </a:xfrm>
          <a:prstGeom prst="rect">
            <a:avLst/>
          </a:prstGeom>
          <a:noFill/>
          <a:ln/>
        </p:spPr>
        <p:txBody>
          <a:bodyPr wrap="square" rtlCol="0" anchor="ctr"/>
          <a:lstStyle/>
          <a:p>
            <a:pPr indent="0" marL="0">
              <a:buNone/>
            </a:pPr>
            <a:r>
              <a:rPr lang="en-US" sz="1200" b="1" spc="100" kern="0" dirty="0">
                <a:solidFill>
                  <a:srgbClr val="12233F"/>
                </a:solidFill>
                <a:latin typeface="Calibri" pitchFamily="34" charset="0"/>
                <a:ea typeface="Calibri" pitchFamily="34" charset="-122"/>
                <a:cs typeface="Calibri" pitchFamily="34" charset="-120"/>
              </a:rPr>
              <a:t>HARDWARE INTERFACE</a:t>
            </a:r>
            <a:endParaRPr lang="en-US" sz="1200" dirty="0"/>
          </a:p>
        </p:txBody>
      </p:sp>
      <p:sp>
        <p:nvSpPr>
          <p:cNvPr id="20" name="Shape 18"/>
          <p:cNvSpPr/>
          <p:nvPr/>
        </p:nvSpPr>
        <p:spPr>
          <a:xfrm>
            <a:off x="4617720" y="2340864"/>
            <a:ext cx="91440" cy="91440"/>
          </a:xfrm>
          <a:prstGeom prst="ellipse">
            <a:avLst/>
          </a:prstGeom>
          <a:solidFill>
            <a:srgbClr val="0E7C86"/>
          </a:solidFill>
          <a:ln/>
        </p:spPr>
      </p:sp>
      <p:sp>
        <p:nvSpPr>
          <p:cNvPr id="21" name="Text 19"/>
          <p:cNvSpPr/>
          <p:nvPr/>
        </p:nvSpPr>
        <p:spPr>
          <a:xfrm>
            <a:off x="4846320" y="2194560"/>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AWS EC2</a:t>
            </a:r>
            <a:endParaRPr lang="en-US" sz="1250" dirty="0"/>
          </a:p>
        </p:txBody>
      </p:sp>
      <p:sp>
        <p:nvSpPr>
          <p:cNvPr id="22" name="Shape 20"/>
          <p:cNvSpPr/>
          <p:nvPr/>
        </p:nvSpPr>
        <p:spPr>
          <a:xfrm>
            <a:off x="4617720" y="2743200"/>
            <a:ext cx="91440" cy="91440"/>
          </a:xfrm>
          <a:prstGeom prst="ellipse">
            <a:avLst/>
          </a:prstGeom>
          <a:solidFill>
            <a:srgbClr val="0E7C86"/>
          </a:solidFill>
          <a:ln/>
        </p:spPr>
      </p:sp>
      <p:sp>
        <p:nvSpPr>
          <p:cNvPr id="23" name="Text 21"/>
          <p:cNvSpPr/>
          <p:nvPr/>
        </p:nvSpPr>
        <p:spPr>
          <a:xfrm>
            <a:off x="4846320" y="2596896"/>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Developer workstation</a:t>
            </a:r>
            <a:endParaRPr lang="en-US" sz="1250" dirty="0"/>
          </a:p>
        </p:txBody>
      </p:sp>
      <p:sp>
        <p:nvSpPr>
          <p:cNvPr id="24" name="Shape 22"/>
          <p:cNvSpPr/>
          <p:nvPr/>
        </p:nvSpPr>
        <p:spPr>
          <a:xfrm>
            <a:off x="8138160" y="1554480"/>
            <a:ext cx="3566160" cy="4572000"/>
          </a:xfrm>
          <a:prstGeom prst="roundRect">
            <a:avLst>
              <a:gd name="adj" fmla="val 2308"/>
            </a:avLst>
          </a:prstGeom>
          <a:solidFill>
            <a:srgbClr val="E4F1F1"/>
          </a:solidFill>
          <a:ln w="12700">
            <a:solidFill>
              <a:srgbClr val="DDE5EC"/>
            </a:solidFill>
            <a:prstDash val="solid"/>
          </a:ln>
        </p:spPr>
      </p:sp>
      <p:sp>
        <p:nvSpPr>
          <p:cNvPr id="25" name="Text 23"/>
          <p:cNvSpPr/>
          <p:nvPr/>
        </p:nvSpPr>
        <p:spPr>
          <a:xfrm>
            <a:off x="8412480" y="1783080"/>
            <a:ext cx="3017520" cy="365760"/>
          </a:xfrm>
          <a:prstGeom prst="rect">
            <a:avLst/>
          </a:prstGeom>
          <a:noFill/>
          <a:ln/>
        </p:spPr>
        <p:txBody>
          <a:bodyPr wrap="square" rtlCol="0" anchor="ctr"/>
          <a:lstStyle/>
          <a:p>
            <a:pPr indent="0" marL="0">
              <a:buNone/>
            </a:pPr>
            <a:r>
              <a:rPr lang="en-US" sz="1200" b="1" spc="100" kern="0" dirty="0">
                <a:solidFill>
                  <a:srgbClr val="12233F"/>
                </a:solidFill>
                <a:latin typeface="Calibri" pitchFamily="34" charset="0"/>
                <a:ea typeface="Calibri" pitchFamily="34" charset="-122"/>
                <a:cs typeface="Calibri" pitchFamily="34" charset="-120"/>
              </a:rPr>
              <a:t>SOFTWARE INTERFACE</a:t>
            </a:r>
            <a:endParaRPr lang="en-US" sz="1200" dirty="0"/>
          </a:p>
        </p:txBody>
      </p:sp>
      <p:sp>
        <p:nvSpPr>
          <p:cNvPr id="26" name="Shape 24"/>
          <p:cNvSpPr/>
          <p:nvPr/>
        </p:nvSpPr>
        <p:spPr>
          <a:xfrm>
            <a:off x="8412480" y="2340864"/>
            <a:ext cx="91440" cy="91440"/>
          </a:xfrm>
          <a:prstGeom prst="ellipse">
            <a:avLst/>
          </a:prstGeom>
          <a:solidFill>
            <a:srgbClr val="0E7C86"/>
          </a:solidFill>
          <a:ln/>
        </p:spPr>
      </p:sp>
      <p:sp>
        <p:nvSpPr>
          <p:cNvPr id="27" name="Text 25"/>
          <p:cNvSpPr/>
          <p:nvPr/>
        </p:nvSpPr>
        <p:spPr>
          <a:xfrm>
            <a:off x="8641080" y="2194560"/>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GitHub</a:t>
            </a:r>
            <a:endParaRPr lang="en-US" sz="1250" dirty="0"/>
          </a:p>
        </p:txBody>
      </p:sp>
      <p:sp>
        <p:nvSpPr>
          <p:cNvPr id="28" name="Shape 26"/>
          <p:cNvSpPr/>
          <p:nvPr/>
        </p:nvSpPr>
        <p:spPr>
          <a:xfrm>
            <a:off x="8412480" y="2743200"/>
            <a:ext cx="91440" cy="91440"/>
          </a:xfrm>
          <a:prstGeom prst="ellipse">
            <a:avLst/>
          </a:prstGeom>
          <a:solidFill>
            <a:srgbClr val="0E7C86"/>
          </a:solidFill>
          <a:ln/>
        </p:spPr>
      </p:sp>
      <p:sp>
        <p:nvSpPr>
          <p:cNvPr id="29" name="Text 27"/>
          <p:cNvSpPr/>
          <p:nvPr/>
        </p:nvSpPr>
        <p:spPr>
          <a:xfrm>
            <a:off x="8641080" y="2596896"/>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Jenkins</a:t>
            </a:r>
            <a:endParaRPr lang="en-US" sz="1250" dirty="0"/>
          </a:p>
        </p:txBody>
      </p:sp>
      <p:sp>
        <p:nvSpPr>
          <p:cNvPr id="30" name="Shape 28"/>
          <p:cNvSpPr/>
          <p:nvPr/>
        </p:nvSpPr>
        <p:spPr>
          <a:xfrm>
            <a:off x="8412480" y="3145536"/>
            <a:ext cx="91440" cy="91440"/>
          </a:xfrm>
          <a:prstGeom prst="ellipse">
            <a:avLst/>
          </a:prstGeom>
          <a:solidFill>
            <a:srgbClr val="0E7C86"/>
          </a:solidFill>
          <a:ln/>
        </p:spPr>
      </p:sp>
      <p:sp>
        <p:nvSpPr>
          <p:cNvPr id="31" name="Text 29"/>
          <p:cNvSpPr/>
          <p:nvPr/>
        </p:nvSpPr>
        <p:spPr>
          <a:xfrm>
            <a:off x="8641080" y="2999232"/>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Amazon S3</a:t>
            </a:r>
            <a:endParaRPr lang="en-US" sz="1250" dirty="0"/>
          </a:p>
        </p:txBody>
      </p:sp>
      <p:sp>
        <p:nvSpPr>
          <p:cNvPr id="32" name="Shape 30"/>
          <p:cNvSpPr/>
          <p:nvPr/>
        </p:nvSpPr>
        <p:spPr>
          <a:xfrm>
            <a:off x="8412480" y="3547872"/>
            <a:ext cx="91440" cy="91440"/>
          </a:xfrm>
          <a:prstGeom prst="ellipse">
            <a:avLst/>
          </a:prstGeom>
          <a:solidFill>
            <a:srgbClr val="0E7C86"/>
          </a:solidFill>
          <a:ln/>
        </p:spPr>
      </p:sp>
      <p:sp>
        <p:nvSpPr>
          <p:cNvPr id="33" name="Text 31"/>
          <p:cNvSpPr/>
          <p:nvPr/>
        </p:nvSpPr>
        <p:spPr>
          <a:xfrm>
            <a:off x="8641080" y="3401568"/>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AWS CodeDeploy</a:t>
            </a:r>
            <a:endParaRPr lang="en-US" sz="1250" dirty="0"/>
          </a:p>
        </p:txBody>
      </p:sp>
      <p:sp>
        <p:nvSpPr>
          <p:cNvPr id="34" name="Shape 32"/>
          <p:cNvSpPr/>
          <p:nvPr/>
        </p:nvSpPr>
        <p:spPr>
          <a:xfrm>
            <a:off x="8412480" y="3950208"/>
            <a:ext cx="91440" cy="91440"/>
          </a:xfrm>
          <a:prstGeom prst="ellipse">
            <a:avLst/>
          </a:prstGeom>
          <a:solidFill>
            <a:srgbClr val="0E7C86"/>
          </a:solidFill>
          <a:ln/>
        </p:spPr>
      </p:sp>
      <p:sp>
        <p:nvSpPr>
          <p:cNvPr id="35" name="Text 33"/>
          <p:cNvSpPr/>
          <p:nvPr/>
        </p:nvSpPr>
        <p:spPr>
          <a:xfrm>
            <a:off x="8641080" y="3803904"/>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Amazon CloudWatch</a:t>
            </a:r>
            <a:endParaRPr lang="en-US" sz="1250" dirty="0"/>
          </a:p>
        </p:txBody>
      </p:sp>
      <p:sp>
        <p:nvSpPr>
          <p:cNvPr id="36" name="Shape 34"/>
          <p:cNvSpPr/>
          <p:nvPr/>
        </p:nvSpPr>
        <p:spPr>
          <a:xfrm>
            <a:off x="8412480" y="4352544"/>
            <a:ext cx="91440" cy="91440"/>
          </a:xfrm>
          <a:prstGeom prst="ellipse">
            <a:avLst/>
          </a:prstGeom>
          <a:solidFill>
            <a:srgbClr val="0E7C86"/>
          </a:solidFill>
          <a:ln/>
        </p:spPr>
      </p:sp>
      <p:sp>
        <p:nvSpPr>
          <p:cNvPr id="37" name="Text 35"/>
          <p:cNvSpPr/>
          <p:nvPr/>
        </p:nvSpPr>
        <p:spPr>
          <a:xfrm>
            <a:off x="8641080" y="4206240"/>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Amazon EventBridge</a:t>
            </a:r>
            <a:endParaRPr lang="en-US" sz="1250" dirty="0"/>
          </a:p>
        </p:txBody>
      </p:sp>
      <p:sp>
        <p:nvSpPr>
          <p:cNvPr id="38" name="Shape 36"/>
          <p:cNvSpPr/>
          <p:nvPr/>
        </p:nvSpPr>
        <p:spPr>
          <a:xfrm>
            <a:off x="8412480" y="4754880"/>
            <a:ext cx="91440" cy="91440"/>
          </a:xfrm>
          <a:prstGeom prst="ellipse">
            <a:avLst/>
          </a:prstGeom>
          <a:solidFill>
            <a:srgbClr val="0E7C86"/>
          </a:solidFill>
          <a:ln/>
        </p:spPr>
      </p:sp>
      <p:sp>
        <p:nvSpPr>
          <p:cNvPr id="39" name="Text 37"/>
          <p:cNvSpPr/>
          <p:nvPr/>
        </p:nvSpPr>
        <p:spPr>
          <a:xfrm>
            <a:off x="8641080" y="4608576"/>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AWS Lambda</a:t>
            </a:r>
            <a:endParaRPr lang="en-US" sz="1250" dirty="0"/>
          </a:p>
        </p:txBody>
      </p:sp>
      <p:sp>
        <p:nvSpPr>
          <p:cNvPr id="40" name="Shape 38"/>
          <p:cNvSpPr/>
          <p:nvPr/>
        </p:nvSpPr>
        <p:spPr>
          <a:xfrm>
            <a:off x="8412480" y="5157216"/>
            <a:ext cx="91440" cy="91440"/>
          </a:xfrm>
          <a:prstGeom prst="ellipse">
            <a:avLst/>
          </a:prstGeom>
          <a:solidFill>
            <a:srgbClr val="0E7C86"/>
          </a:solidFill>
          <a:ln/>
        </p:spPr>
      </p:sp>
      <p:sp>
        <p:nvSpPr>
          <p:cNvPr id="41" name="Text 39"/>
          <p:cNvSpPr/>
          <p:nvPr/>
        </p:nvSpPr>
        <p:spPr>
          <a:xfrm>
            <a:off x="8641080" y="5010912"/>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Amazon DynamoDB</a:t>
            </a:r>
            <a:endParaRPr lang="en-US" sz="1250" dirty="0"/>
          </a:p>
        </p:txBody>
      </p:sp>
      <p:sp>
        <p:nvSpPr>
          <p:cNvPr id="42" name="Shape 40"/>
          <p:cNvSpPr/>
          <p:nvPr/>
        </p:nvSpPr>
        <p:spPr>
          <a:xfrm>
            <a:off x="8412480" y="5559552"/>
            <a:ext cx="91440" cy="91440"/>
          </a:xfrm>
          <a:prstGeom prst="ellipse">
            <a:avLst/>
          </a:prstGeom>
          <a:solidFill>
            <a:srgbClr val="0E7C86"/>
          </a:solidFill>
          <a:ln/>
        </p:spPr>
      </p:sp>
      <p:sp>
        <p:nvSpPr>
          <p:cNvPr id="43" name="Text 41"/>
          <p:cNvSpPr/>
          <p:nvPr/>
        </p:nvSpPr>
        <p:spPr>
          <a:xfrm>
            <a:off x="8641080" y="5413248"/>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Grafana</a:t>
            </a:r>
            <a:endParaRPr lang="en-US" sz="1250" dirty="0"/>
          </a:p>
        </p:txBody>
      </p:sp>
      <p:sp>
        <p:nvSpPr>
          <p:cNvPr id="44" name="Shape 42"/>
          <p:cNvSpPr/>
          <p:nvPr/>
        </p:nvSpPr>
        <p:spPr>
          <a:xfrm>
            <a:off x="8412480" y="5961888"/>
            <a:ext cx="91440" cy="91440"/>
          </a:xfrm>
          <a:prstGeom prst="ellipse">
            <a:avLst/>
          </a:prstGeom>
          <a:solidFill>
            <a:srgbClr val="0E7C86"/>
          </a:solidFill>
          <a:ln/>
        </p:spPr>
      </p:sp>
      <p:sp>
        <p:nvSpPr>
          <p:cNvPr id="45" name="Text 43"/>
          <p:cNvSpPr/>
          <p:nvPr/>
        </p:nvSpPr>
        <p:spPr>
          <a:xfrm>
            <a:off x="8641080" y="5815584"/>
            <a:ext cx="2788920" cy="365760"/>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n8n</a:t>
            </a:r>
            <a:endParaRPr lang="en-US" sz="1250" dirty="0"/>
          </a:p>
        </p:txBody>
      </p:sp>
      <p:sp>
        <p:nvSpPr>
          <p:cNvPr id="46" name="Text 44"/>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47" name="Text 4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Database Design</a:t>
            </a:r>
            <a:endParaRPr lang="en-US" sz="3000" dirty="0"/>
          </a:p>
        </p:txBody>
      </p:sp>
      <p:sp>
        <p:nvSpPr>
          <p:cNvPr id="4" name="Shape 2"/>
          <p:cNvSpPr/>
          <p:nvPr/>
        </p:nvSpPr>
        <p:spPr>
          <a:xfrm>
            <a:off x="548640" y="1554480"/>
            <a:ext cx="3566160" cy="548640"/>
          </a:xfrm>
          <a:prstGeom prst="roundRect">
            <a:avLst>
              <a:gd name="adj" fmla="val 13333"/>
            </a:avLst>
          </a:prstGeom>
          <a:solidFill>
            <a:srgbClr val="12233F"/>
          </a:solidFill>
          <a:ln/>
        </p:spPr>
      </p:sp>
      <p:sp>
        <p:nvSpPr>
          <p:cNvPr id="5" name="Text 3"/>
          <p:cNvSpPr/>
          <p:nvPr/>
        </p:nvSpPr>
        <p:spPr>
          <a:xfrm>
            <a:off x="548640" y="1554480"/>
            <a:ext cx="356616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Deployment Table</a:t>
            </a:r>
            <a:endParaRPr lang="en-US" sz="1500" dirty="0"/>
          </a:p>
        </p:txBody>
      </p:sp>
      <p:sp>
        <p:nvSpPr>
          <p:cNvPr id="6" name="Shape 4"/>
          <p:cNvSpPr/>
          <p:nvPr/>
        </p:nvSpPr>
        <p:spPr>
          <a:xfrm>
            <a:off x="548640" y="2148840"/>
            <a:ext cx="3566160" cy="3977640"/>
          </a:xfrm>
          <a:prstGeom prst="roundRect">
            <a:avLst>
              <a:gd name="adj" fmla="val 2051"/>
            </a:avLst>
          </a:prstGeom>
          <a:solidFill>
            <a:srgbClr val="FFFFFF"/>
          </a:solidFill>
          <a:ln w="12700">
            <a:solidFill>
              <a:srgbClr val="DDE5EC"/>
            </a:solidFill>
            <a:prstDash val="solid"/>
          </a:ln>
        </p:spPr>
      </p:sp>
      <p:sp>
        <p:nvSpPr>
          <p:cNvPr id="7" name="Text 5"/>
          <p:cNvSpPr/>
          <p:nvPr/>
        </p:nvSpPr>
        <p:spPr>
          <a:xfrm>
            <a:off x="822960" y="2331720"/>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Deployment ID</a:t>
            </a:r>
            <a:endParaRPr lang="en-US" sz="1250" dirty="0"/>
          </a:p>
        </p:txBody>
      </p:sp>
      <p:sp>
        <p:nvSpPr>
          <p:cNvPr id="8" name="Shape 6"/>
          <p:cNvSpPr/>
          <p:nvPr/>
        </p:nvSpPr>
        <p:spPr>
          <a:xfrm>
            <a:off x="777240" y="2770632"/>
            <a:ext cx="3108960" cy="0"/>
          </a:xfrm>
          <a:prstGeom prst="line">
            <a:avLst/>
          </a:prstGeom>
          <a:noFill/>
          <a:ln w="9525">
            <a:solidFill>
              <a:srgbClr val="E4E9EE"/>
            </a:solidFill>
            <a:prstDash val="solid"/>
          </a:ln>
        </p:spPr>
      </p:sp>
      <p:sp>
        <p:nvSpPr>
          <p:cNvPr id="9" name="Text 7"/>
          <p:cNvSpPr/>
          <p:nvPr/>
        </p:nvSpPr>
        <p:spPr>
          <a:xfrm>
            <a:off x="822960" y="2770632"/>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Pipeline Name</a:t>
            </a:r>
            <a:endParaRPr lang="en-US" sz="1250" dirty="0"/>
          </a:p>
        </p:txBody>
      </p:sp>
      <p:sp>
        <p:nvSpPr>
          <p:cNvPr id="10" name="Shape 8"/>
          <p:cNvSpPr/>
          <p:nvPr/>
        </p:nvSpPr>
        <p:spPr>
          <a:xfrm>
            <a:off x="777240" y="3209544"/>
            <a:ext cx="3108960" cy="0"/>
          </a:xfrm>
          <a:prstGeom prst="line">
            <a:avLst/>
          </a:prstGeom>
          <a:noFill/>
          <a:ln w="9525">
            <a:solidFill>
              <a:srgbClr val="E4E9EE"/>
            </a:solidFill>
            <a:prstDash val="solid"/>
          </a:ln>
        </p:spPr>
      </p:sp>
      <p:sp>
        <p:nvSpPr>
          <p:cNvPr id="11" name="Text 9"/>
          <p:cNvSpPr/>
          <p:nvPr/>
        </p:nvSpPr>
        <p:spPr>
          <a:xfrm>
            <a:off x="822960" y="3209544"/>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Build Number</a:t>
            </a:r>
            <a:endParaRPr lang="en-US" sz="1250" dirty="0"/>
          </a:p>
        </p:txBody>
      </p:sp>
      <p:sp>
        <p:nvSpPr>
          <p:cNvPr id="12" name="Shape 10"/>
          <p:cNvSpPr/>
          <p:nvPr/>
        </p:nvSpPr>
        <p:spPr>
          <a:xfrm>
            <a:off x="777240" y="3648456"/>
            <a:ext cx="3108960" cy="0"/>
          </a:xfrm>
          <a:prstGeom prst="line">
            <a:avLst/>
          </a:prstGeom>
          <a:noFill/>
          <a:ln w="9525">
            <a:solidFill>
              <a:srgbClr val="E4E9EE"/>
            </a:solidFill>
            <a:prstDash val="solid"/>
          </a:ln>
        </p:spPr>
      </p:sp>
      <p:sp>
        <p:nvSpPr>
          <p:cNvPr id="13" name="Text 11"/>
          <p:cNvSpPr/>
          <p:nvPr/>
        </p:nvSpPr>
        <p:spPr>
          <a:xfrm>
            <a:off x="822960" y="3648456"/>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Version</a:t>
            </a:r>
            <a:endParaRPr lang="en-US" sz="1250" dirty="0"/>
          </a:p>
        </p:txBody>
      </p:sp>
      <p:sp>
        <p:nvSpPr>
          <p:cNvPr id="14" name="Shape 12"/>
          <p:cNvSpPr/>
          <p:nvPr/>
        </p:nvSpPr>
        <p:spPr>
          <a:xfrm>
            <a:off x="777240" y="4087368"/>
            <a:ext cx="3108960" cy="0"/>
          </a:xfrm>
          <a:prstGeom prst="line">
            <a:avLst/>
          </a:prstGeom>
          <a:noFill/>
          <a:ln w="9525">
            <a:solidFill>
              <a:srgbClr val="E4E9EE"/>
            </a:solidFill>
            <a:prstDash val="solid"/>
          </a:ln>
        </p:spPr>
      </p:sp>
      <p:sp>
        <p:nvSpPr>
          <p:cNvPr id="15" name="Text 13"/>
          <p:cNvSpPr/>
          <p:nvPr/>
        </p:nvSpPr>
        <p:spPr>
          <a:xfrm>
            <a:off x="822960" y="4087368"/>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Branch</a:t>
            </a:r>
            <a:endParaRPr lang="en-US" sz="1250" dirty="0"/>
          </a:p>
        </p:txBody>
      </p:sp>
      <p:sp>
        <p:nvSpPr>
          <p:cNvPr id="16" name="Shape 14"/>
          <p:cNvSpPr/>
          <p:nvPr/>
        </p:nvSpPr>
        <p:spPr>
          <a:xfrm>
            <a:off x="777240" y="4526280"/>
            <a:ext cx="3108960" cy="0"/>
          </a:xfrm>
          <a:prstGeom prst="line">
            <a:avLst/>
          </a:prstGeom>
          <a:noFill/>
          <a:ln w="9525">
            <a:solidFill>
              <a:srgbClr val="E4E9EE"/>
            </a:solidFill>
            <a:prstDash val="solid"/>
          </a:ln>
        </p:spPr>
      </p:sp>
      <p:sp>
        <p:nvSpPr>
          <p:cNvPr id="17" name="Text 15"/>
          <p:cNvSpPr/>
          <p:nvPr/>
        </p:nvSpPr>
        <p:spPr>
          <a:xfrm>
            <a:off x="822960" y="4526280"/>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Status</a:t>
            </a:r>
            <a:endParaRPr lang="en-US" sz="1250" dirty="0"/>
          </a:p>
        </p:txBody>
      </p:sp>
      <p:sp>
        <p:nvSpPr>
          <p:cNvPr id="18" name="Shape 16"/>
          <p:cNvSpPr/>
          <p:nvPr/>
        </p:nvSpPr>
        <p:spPr>
          <a:xfrm>
            <a:off x="777240" y="4965192"/>
            <a:ext cx="3108960" cy="0"/>
          </a:xfrm>
          <a:prstGeom prst="line">
            <a:avLst/>
          </a:prstGeom>
          <a:noFill/>
          <a:ln w="9525">
            <a:solidFill>
              <a:srgbClr val="E4E9EE"/>
            </a:solidFill>
            <a:prstDash val="solid"/>
          </a:ln>
        </p:spPr>
      </p:sp>
      <p:sp>
        <p:nvSpPr>
          <p:cNvPr id="19" name="Text 17"/>
          <p:cNvSpPr/>
          <p:nvPr/>
        </p:nvSpPr>
        <p:spPr>
          <a:xfrm>
            <a:off x="822960" y="4965192"/>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Duration</a:t>
            </a:r>
            <a:endParaRPr lang="en-US" sz="1250" dirty="0"/>
          </a:p>
        </p:txBody>
      </p:sp>
      <p:sp>
        <p:nvSpPr>
          <p:cNvPr id="20" name="Shape 18"/>
          <p:cNvSpPr/>
          <p:nvPr/>
        </p:nvSpPr>
        <p:spPr>
          <a:xfrm>
            <a:off x="777240" y="5404104"/>
            <a:ext cx="3108960" cy="0"/>
          </a:xfrm>
          <a:prstGeom prst="line">
            <a:avLst/>
          </a:prstGeom>
          <a:noFill/>
          <a:ln w="9525">
            <a:solidFill>
              <a:srgbClr val="E4E9EE"/>
            </a:solidFill>
            <a:prstDash val="solid"/>
          </a:ln>
        </p:spPr>
      </p:sp>
      <p:sp>
        <p:nvSpPr>
          <p:cNvPr id="21" name="Text 19"/>
          <p:cNvSpPr/>
          <p:nvPr/>
        </p:nvSpPr>
        <p:spPr>
          <a:xfrm>
            <a:off x="822960" y="5404104"/>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Timestamp</a:t>
            </a:r>
            <a:endParaRPr lang="en-US" sz="1250" dirty="0"/>
          </a:p>
        </p:txBody>
      </p:sp>
      <p:sp>
        <p:nvSpPr>
          <p:cNvPr id="22" name="Shape 20"/>
          <p:cNvSpPr/>
          <p:nvPr/>
        </p:nvSpPr>
        <p:spPr>
          <a:xfrm>
            <a:off x="4343400" y="1554480"/>
            <a:ext cx="3566160" cy="548640"/>
          </a:xfrm>
          <a:prstGeom prst="roundRect">
            <a:avLst>
              <a:gd name="adj" fmla="val 13333"/>
            </a:avLst>
          </a:prstGeom>
          <a:solidFill>
            <a:srgbClr val="0E7C86"/>
          </a:solidFill>
          <a:ln/>
        </p:spPr>
      </p:sp>
      <p:sp>
        <p:nvSpPr>
          <p:cNvPr id="23" name="Text 21"/>
          <p:cNvSpPr/>
          <p:nvPr/>
        </p:nvSpPr>
        <p:spPr>
          <a:xfrm>
            <a:off x="4343400" y="1554480"/>
            <a:ext cx="356616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Failure Table</a:t>
            </a:r>
            <a:endParaRPr lang="en-US" sz="1500" dirty="0"/>
          </a:p>
        </p:txBody>
      </p:sp>
      <p:sp>
        <p:nvSpPr>
          <p:cNvPr id="24" name="Shape 22"/>
          <p:cNvSpPr/>
          <p:nvPr/>
        </p:nvSpPr>
        <p:spPr>
          <a:xfrm>
            <a:off x="4343400" y="2148840"/>
            <a:ext cx="3566160" cy="3977640"/>
          </a:xfrm>
          <a:prstGeom prst="roundRect">
            <a:avLst>
              <a:gd name="adj" fmla="val 2051"/>
            </a:avLst>
          </a:prstGeom>
          <a:solidFill>
            <a:srgbClr val="FFFFFF"/>
          </a:solidFill>
          <a:ln w="12700">
            <a:solidFill>
              <a:srgbClr val="DDE5EC"/>
            </a:solidFill>
            <a:prstDash val="solid"/>
          </a:ln>
        </p:spPr>
      </p:sp>
      <p:sp>
        <p:nvSpPr>
          <p:cNvPr id="25" name="Text 23"/>
          <p:cNvSpPr/>
          <p:nvPr/>
        </p:nvSpPr>
        <p:spPr>
          <a:xfrm>
            <a:off x="4617720" y="2331720"/>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Failure ID</a:t>
            </a:r>
            <a:endParaRPr lang="en-US" sz="1250" dirty="0"/>
          </a:p>
        </p:txBody>
      </p:sp>
      <p:sp>
        <p:nvSpPr>
          <p:cNvPr id="26" name="Shape 24"/>
          <p:cNvSpPr/>
          <p:nvPr/>
        </p:nvSpPr>
        <p:spPr>
          <a:xfrm>
            <a:off x="4572000" y="2770632"/>
            <a:ext cx="3108960" cy="0"/>
          </a:xfrm>
          <a:prstGeom prst="line">
            <a:avLst/>
          </a:prstGeom>
          <a:noFill/>
          <a:ln w="9525">
            <a:solidFill>
              <a:srgbClr val="E4E9EE"/>
            </a:solidFill>
            <a:prstDash val="solid"/>
          </a:ln>
        </p:spPr>
      </p:sp>
      <p:sp>
        <p:nvSpPr>
          <p:cNvPr id="27" name="Text 25"/>
          <p:cNvSpPr/>
          <p:nvPr/>
        </p:nvSpPr>
        <p:spPr>
          <a:xfrm>
            <a:off x="4617720" y="2770632"/>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Pipeline</a:t>
            </a:r>
            <a:endParaRPr lang="en-US" sz="1250" dirty="0"/>
          </a:p>
        </p:txBody>
      </p:sp>
      <p:sp>
        <p:nvSpPr>
          <p:cNvPr id="28" name="Shape 26"/>
          <p:cNvSpPr/>
          <p:nvPr/>
        </p:nvSpPr>
        <p:spPr>
          <a:xfrm>
            <a:off x="4572000" y="3209544"/>
            <a:ext cx="3108960" cy="0"/>
          </a:xfrm>
          <a:prstGeom prst="line">
            <a:avLst/>
          </a:prstGeom>
          <a:noFill/>
          <a:ln w="9525">
            <a:solidFill>
              <a:srgbClr val="E4E9EE"/>
            </a:solidFill>
            <a:prstDash val="solid"/>
          </a:ln>
        </p:spPr>
      </p:sp>
      <p:sp>
        <p:nvSpPr>
          <p:cNvPr id="29" name="Text 27"/>
          <p:cNvSpPr/>
          <p:nvPr/>
        </p:nvSpPr>
        <p:spPr>
          <a:xfrm>
            <a:off x="4617720" y="3209544"/>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Stage</a:t>
            </a:r>
            <a:endParaRPr lang="en-US" sz="1250" dirty="0"/>
          </a:p>
        </p:txBody>
      </p:sp>
      <p:sp>
        <p:nvSpPr>
          <p:cNvPr id="30" name="Shape 28"/>
          <p:cNvSpPr/>
          <p:nvPr/>
        </p:nvSpPr>
        <p:spPr>
          <a:xfrm>
            <a:off x="4572000" y="3648456"/>
            <a:ext cx="3108960" cy="0"/>
          </a:xfrm>
          <a:prstGeom prst="line">
            <a:avLst/>
          </a:prstGeom>
          <a:noFill/>
          <a:ln w="9525">
            <a:solidFill>
              <a:srgbClr val="E4E9EE"/>
            </a:solidFill>
            <a:prstDash val="solid"/>
          </a:ln>
        </p:spPr>
      </p:sp>
      <p:sp>
        <p:nvSpPr>
          <p:cNvPr id="31" name="Text 29"/>
          <p:cNvSpPr/>
          <p:nvPr/>
        </p:nvSpPr>
        <p:spPr>
          <a:xfrm>
            <a:off x="4617720" y="3648456"/>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Error Message</a:t>
            </a:r>
            <a:endParaRPr lang="en-US" sz="1250" dirty="0"/>
          </a:p>
        </p:txBody>
      </p:sp>
      <p:sp>
        <p:nvSpPr>
          <p:cNvPr id="32" name="Shape 30"/>
          <p:cNvSpPr/>
          <p:nvPr/>
        </p:nvSpPr>
        <p:spPr>
          <a:xfrm>
            <a:off x="4572000" y="4087368"/>
            <a:ext cx="3108960" cy="0"/>
          </a:xfrm>
          <a:prstGeom prst="line">
            <a:avLst/>
          </a:prstGeom>
          <a:noFill/>
          <a:ln w="9525">
            <a:solidFill>
              <a:srgbClr val="E4E9EE"/>
            </a:solidFill>
            <a:prstDash val="solid"/>
          </a:ln>
        </p:spPr>
      </p:sp>
      <p:sp>
        <p:nvSpPr>
          <p:cNvPr id="33" name="Text 31"/>
          <p:cNvSpPr/>
          <p:nvPr/>
        </p:nvSpPr>
        <p:spPr>
          <a:xfrm>
            <a:off x="4617720" y="4087368"/>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Severity</a:t>
            </a:r>
            <a:endParaRPr lang="en-US" sz="1250" dirty="0"/>
          </a:p>
        </p:txBody>
      </p:sp>
      <p:sp>
        <p:nvSpPr>
          <p:cNvPr id="34" name="Shape 32"/>
          <p:cNvSpPr/>
          <p:nvPr/>
        </p:nvSpPr>
        <p:spPr>
          <a:xfrm>
            <a:off x="4572000" y="4526280"/>
            <a:ext cx="3108960" cy="0"/>
          </a:xfrm>
          <a:prstGeom prst="line">
            <a:avLst/>
          </a:prstGeom>
          <a:noFill/>
          <a:ln w="9525">
            <a:solidFill>
              <a:srgbClr val="E4E9EE"/>
            </a:solidFill>
            <a:prstDash val="solid"/>
          </a:ln>
        </p:spPr>
      </p:sp>
      <p:sp>
        <p:nvSpPr>
          <p:cNvPr id="35" name="Text 33"/>
          <p:cNvSpPr/>
          <p:nvPr/>
        </p:nvSpPr>
        <p:spPr>
          <a:xfrm>
            <a:off x="4617720" y="4526280"/>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Resolution</a:t>
            </a:r>
            <a:endParaRPr lang="en-US" sz="1250" dirty="0"/>
          </a:p>
        </p:txBody>
      </p:sp>
      <p:sp>
        <p:nvSpPr>
          <p:cNvPr id="36" name="Shape 34"/>
          <p:cNvSpPr/>
          <p:nvPr/>
        </p:nvSpPr>
        <p:spPr>
          <a:xfrm>
            <a:off x="4572000" y="4965192"/>
            <a:ext cx="3108960" cy="0"/>
          </a:xfrm>
          <a:prstGeom prst="line">
            <a:avLst/>
          </a:prstGeom>
          <a:noFill/>
          <a:ln w="9525">
            <a:solidFill>
              <a:srgbClr val="E4E9EE"/>
            </a:solidFill>
            <a:prstDash val="solid"/>
          </a:ln>
        </p:spPr>
      </p:sp>
      <p:sp>
        <p:nvSpPr>
          <p:cNvPr id="37" name="Text 35"/>
          <p:cNvSpPr/>
          <p:nvPr/>
        </p:nvSpPr>
        <p:spPr>
          <a:xfrm>
            <a:off x="4617720" y="4965192"/>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Time</a:t>
            </a:r>
            <a:endParaRPr lang="en-US" sz="1250" dirty="0"/>
          </a:p>
        </p:txBody>
      </p:sp>
      <p:sp>
        <p:nvSpPr>
          <p:cNvPr id="38" name="Shape 36"/>
          <p:cNvSpPr/>
          <p:nvPr/>
        </p:nvSpPr>
        <p:spPr>
          <a:xfrm>
            <a:off x="8138160" y="1554480"/>
            <a:ext cx="3566160" cy="548640"/>
          </a:xfrm>
          <a:prstGeom prst="roundRect">
            <a:avLst>
              <a:gd name="adj" fmla="val 13333"/>
            </a:avLst>
          </a:prstGeom>
          <a:solidFill>
            <a:srgbClr val="F2A63A"/>
          </a:solidFill>
          <a:ln/>
        </p:spPr>
      </p:sp>
      <p:sp>
        <p:nvSpPr>
          <p:cNvPr id="39" name="Text 37"/>
          <p:cNvSpPr/>
          <p:nvPr/>
        </p:nvSpPr>
        <p:spPr>
          <a:xfrm>
            <a:off x="8138160" y="1554480"/>
            <a:ext cx="3566160" cy="548640"/>
          </a:xfrm>
          <a:prstGeom prst="rect">
            <a:avLst/>
          </a:prstGeom>
          <a:noFill/>
          <a:ln/>
        </p:spPr>
        <p:txBody>
          <a:bodyPr wrap="square" rtlCol="0" anchor="ctr"/>
          <a:lstStyle/>
          <a:p>
            <a:pPr algn="ctr" indent="0" marL="0">
              <a:buNone/>
            </a:pPr>
            <a:r>
              <a:rPr lang="en-US" sz="1500" b="1" dirty="0">
                <a:solidFill>
                  <a:srgbClr val="12233F"/>
                </a:solidFill>
                <a:latin typeface="Cambria" pitchFamily="34" charset="0"/>
                <a:ea typeface="Cambria" pitchFamily="34" charset="-122"/>
                <a:cs typeface="Cambria" pitchFamily="34" charset="-120"/>
              </a:rPr>
              <a:t>Notification Table</a:t>
            </a:r>
            <a:endParaRPr lang="en-US" sz="1500" dirty="0"/>
          </a:p>
        </p:txBody>
      </p:sp>
      <p:sp>
        <p:nvSpPr>
          <p:cNvPr id="40" name="Shape 38"/>
          <p:cNvSpPr/>
          <p:nvPr/>
        </p:nvSpPr>
        <p:spPr>
          <a:xfrm>
            <a:off x="8138160" y="2148840"/>
            <a:ext cx="3566160" cy="3977640"/>
          </a:xfrm>
          <a:prstGeom prst="roundRect">
            <a:avLst>
              <a:gd name="adj" fmla="val 2051"/>
            </a:avLst>
          </a:prstGeom>
          <a:solidFill>
            <a:srgbClr val="FFFFFF"/>
          </a:solidFill>
          <a:ln w="12700">
            <a:solidFill>
              <a:srgbClr val="DDE5EC"/>
            </a:solidFill>
            <a:prstDash val="solid"/>
          </a:ln>
        </p:spPr>
      </p:sp>
      <p:sp>
        <p:nvSpPr>
          <p:cNvPr id="41" name="Text 39"/>
          <p:cNvSpPr/>
          <p:nvPr/>
        </p:nvSpPr>
        <p:spPr>
          <a:xfrm>
            <a:off x="8412480" y="2331720"/>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Notification ID</a:t>
            </a:r>
            <a:endParaRPr lang="en-US" sz="1250" dirty="0"/>
          </a:p>
        </p:txBody>
      </p:sp>
      <p:sp>
        <p:nvSpPr>
          <p:cNvPr id="42" name="Shape 40"/>
          <p:cNvSpPr/>
          <p:nvPr/>
        </p:nvSpPr>
        <p:spPr>
          <a:xfrm>
            <a:off x="8366760" y="2770632"/>
            <a:ext cx="3108960" cy="0"/>
          </a:xfrm>
          <a:prstGeom prst="line">
            <a:avLst/>
          </a:prstGeom>
          <a:noFill/>
          <a:ln w="9525">
            <a:solidFill>
              <a:srgbClr val="E4E9EE"/>
            </a:solidFill>
            <a:prstDash val="solid"/>
          </a:ln>
        </p:spPr>
      </p:sp>
      <p:sp>
        <p:nvSpPr>
          <p:cNvPr id="43" name="Text 41"/>
          <p:cNvSpPr/>
          <p:nvPr/>
        </p:nvSpPr>
        <p:spPr>
          <a:xfrm>
            <a:off x="8412480" y="2770632"/>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Channel</a:t>
            </a:r>
            <a:endParaRPr lang="en-US" sz="1250" dirty="0"/>
          </a:p>
        </p:txBody>
      </p:sp>
      <p:sp>
        <p:nvSpPr>
          <p:cNvPr id="44" name="Shape 42"/>
          <p:cNvSpPr/>
          <p:nvPr/>
        </p:nvSpPr>
        <p:spPr>
          <a:xfrm>
            <a:off x="8366760" y="3209544"/>
            <a:ext cx="3108960" cy="0"/>
          </a:xfrm>
          <a:prstGeom prst="line">
            <a:avLst/>
          </a:prstGeom>
          <a:noFill/>
          <a:ln w="9525">
            <a:solidFill>
              <a:srgbClr val="E4E9EE"/>
            </a:solidFill>
            <a:prstDash val="solid"/>
          </a:ln>
        </p:spPr>
      </p:sp>
      <p:sp>
        <p:nvSpPr>
          <p:cNvPr id="45" name="Text 43"/>
          <p:cNvSpPr/>
          <p:nvPr/>
        </p:nvSpPr>
        <p:spPr>
          <a:xfrm>
            <a:off x="8412480" y="3209544"/>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Recipient</a:t>
            </a:r>
            <a:endParaRPr lang="en-US" sz="1250" dirty="0"/>
          </a:p>
        </p:txBody>
      </p:sp>
      <p:sp>
        <p:nvSpPr>
          <p:cNvPr id="46" name="Shape 44"/>
          <p:cNvSpPr/>
          <p:nvPr/>
        </p:nvSpPr>
        <p:spPr>
          <a:xfrm>
            <a:off x="8366760" y="3648456"/>
            <a:ext cx="3108960" cy="0"/>
          </a:xfrm>
          <a:prstGeom prst="line">
            <a:avLst/>
          </a:prstGeom>
          <a:noFill/>
          <a:ln w="9525">
            <a:solidFill>
              <a:srgbClr val="E4E9EE"/>
            </a:solidFill>
            <a:prstDash val="solid"/>
          </a:ln>
        </p:spPr>
      </p:sp>
      <p:sp>
        <p:nvSpPr>
          <p:cNvPr id="47" name="Text 45"/>
          <p:cNvSpPr/>
          <p:nvPr/>
        </p:nvSpPr>
        <p:spPr>
          <a:xfrm>
            <a:off x="8412480" y="3648456"/>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Delivery Status</a:t>
            </a:r>
            <a:endParaRPr lang="en-US" sz="1250" dirty="0"/>
          </a:p>
        </p:txBody>
      </p:sp>
      <p:sp>
        <p:nvSpPr>
          <p:cNvPr id="48" name="Shape 46"/>
          <p:cNvSpPr/>
          <p:nvPr/>
        </p:nvSpPr>
        <p:spPr>
          <a:xfrm>
            <a:off x="8366760" y="4087368"/>
            <a:ext cx="3108960" cy="0"/>
          </a:xfrm>
          <a:prstGeom prst="line">
            <a:avLst/>
          </a:prstGeom>
          <a:noFill/>
          <a:ln w="9525">
            <a:solidFill>
              <a:srgbClr val="E4E9EE"/>
            </a:solidFill>
            <a:prstDash val="solid"/>
          </a:ln>
        </p:spPr>
      </p:sp>
      <p:sp>
        <p:nvSpPr>
          <p:cNvPr id="49" name="Text 47"/>
          <p:cNvSpPr/>
          <p:nvPr/>
        </p:nvSpPr>
        <p:spPr>
          <a:xfrm>
            <a:off x="8412480" y="4087368"/>
            <a:ext cx="3017520" cy="384048"/>
          </a:xfrm>
          <a:prstGeom prst="rect">
            <a:avLst/>
          </a:prstGeom>
          <a:noFill/>
          <a:ln/>
        </p:spPr>
        <p:txBody>
          <a:bodyPr wrap="square" rtlCol="0" anchor="ctr"/>
          <a:lstStyle/>
          <a:p>
            <a:pPr indent="0" marL="0">
              <a:buNone/>
            </a:pPr>
            <a:r>
              <a:rPr lang="en-US" sz="1250" dirty="0">
                <a:solidFill>
                  <a:srgbClr val="1A2430"/>
                </a:solidFill>
                <a:latin typeface="Calibri" pitchFamily="34" charset="0"/>
                <a:ea typeface="Calibri" pitchFamily="34" charset="-122"/>
                <a:cs typeface="Calibri" pitchFamily="34" charset="-120"/>
              </a:rPr>
              <a:t>Time</a:t>
            </a:r>
            <a:endParaRPr lang="en-US" sz="1250" dirty="0"/>
          </a:p>
        </p:txBody>
      </p:sp>
      <p:sp>
        <p:nvSpPr>
          <p:cNvPr id="50" name="Text 48"/>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51" name="Text 49"/>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21792"/>
            <a:ext cx="10515600" cy="594360"/>
          </a:xfrm>
          <a:prstGeom prst="rect">
            <a:avLst/>
          </a:prstGeom>
          <a:noFill/>
          <a:ln/>
        </p:spPr>
        <p:txBody>
          <a:bodyPr wrap="square" rtlCol="0" anchor="ctr"/>
          <a:lstStyle/>
          <a:p>
            <a:pPr indent="0" marL="0">
              <a:buNone/>
            </a:pPr>
            <a:r>
              <a:rPr lang="en-US" sz="3000" b="1" dirty="0">
                <a:solidFill>
                  <a:srgbClr val="12233F"/>
                </a:solidFill>
                <a:latin typeface="Cambria" pitchFamily="34" charset="0"/>
                <a:ea typeface="Cambria" pitchFamily="34" charset="-122"/>
                <a:cs typeface="Cambria" pitchFamily="34" charset="-120"/>
              </a:rPr>
              <a:t>Future Enhancements</a:t>
            </a:r>
            <a:endParaRPr lang="en-US" sz="3000" dirty="0"/>
          </a:p>
        </p:txBody>
      </p:sp>
      <p:sp>
        <p:nvSpPr>
          <p:cNvPr id="4" name="Shape 2"/>
          <p:cNvSpPr/>
          <p:nvPr/>
        </p:nvSpPr>
        <p:spPr>
          <a:xfrm>
            <a:off x="548640" y="1600200"/>
            <a:ext cx="5394960" cy="914400"/>
          </a:xfrm>
          <a:prstGeom prst="roundRect">
            <a:avLst>
              <a:gd name="adj" fmla="val 8000"/>
            </a:avLst>
          </a:prstGeom>
          <a:solidFill>
            <a:srgbClr val="FFFFFF"/>
          </a:solidFill>
          <a:ln w="12700">
            <a:solidFill>
              <a:srgbClr val="DDE5EC"/>
            </a:solidFill>
            <a:prstDash val="solid"/>
          </a:ln>
        </p:spPr>
      </p:sp>
      <p:sp>
        <p:nvSpPr>
          <p:cNvPr id="5" name="Shape 3"/>
          <p:cNvSpPr/>
          <p:nvPr/>
        </p:nvSpPr>
        <p:spPr>
          <a:xfrm>
            <a:off x="749808" y="1805940"/>
            <a:ext cx="502920" cy="502920"/>
          </a:xfrm>
          <a:prstGeom prst="ellipse">
            <a:avLst/>
          </a:prstGeom>
          <a:solidFill>
            <a:srgbClr val="F2A63A"/>
          </a:solidFill>
          <a:ln/>
        </p:spPr>
      </p:sp>
      <p:sp>
        <p:nvSpPr>
          <p:cNvPr id="6" name="Text 4"/>
          <p:cNvSpPr/>
          <p:nvPr/>
        </p:nvSpPr>
        <p:spPr>
          <a:xfrm>
            <a:off x="749808" y="1805940"/>
            <a:ext cx="502920" cy="502920"/>
          </a:xfrm>
          <a:prstGeom prst="rect">
            <a:avLst/>
          </a:prstGeom>
          <a:noFill/>
          <a:ln/>
        </p:spPr>
        <p:txBody>
          <a:bodyPr wrap="square" rtlCol="0" anchor="ctr"/>
          <a:lstStyle/>
          <a:p>
            <a:pPr algn="ctr" indent="0" marL="0">
              <a:buNone/>
            </a:pPr>
            <a:r>
              <a:rPr lang="en-US" sz="1430" b="1" dirty="0">
                <a:solidFill>
                  <a:srgbClr val="12233F"/>
                </a:solidFill>
                <a:latin typeface="Calibri" pitchFamily="34" charset="0"/>
                <a:ea typeface="Calibri" pitchFamily="34" charset="-122"/>
                <a:cs typeface="Calibri" pitchFamily="34" charset="-120"/>
              </a:rPr>
              <a:t>+</a:t>
            </a:r>
            <a:endParaRPr lang="en-US" sz="1430" dirty="0"/>
          </a:p>
        </p:txBody>
      </p:sp>
      <p:sp>
        <p:nvSpPr>
          <p:cNvPr id="7" name="Text 5"/>
          <p:cNvSpPr/>
          <p:nvPr/>
        </p:nvSpPr>
        <p:spPr>
          <a:xfrm>
            <a:off x="1417320" y="1600200"/>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AI-powered root cause analysis</a:t>
            </a:r>
            <a:endParaRPr lang="en-US" sz="1400" dirty="0"/>
          </a:p>
        </p:txBody>
      </p:sp>
      <p:sp>
        <p:nvSpPr>
          <p:cNvPr id="8" name="Shape 6"/>
          <p:cNvSpPr/>
          <p:nvPr/>
        </p:nvSpPr>
        <p:spPr>
          <a:xfrm>
            <a:off x="6263640" y="1600200"/>
            <a:ext cx="5394960" cy="914400"/>
          </a:xfrm>
          <a:prstGeom prst="roundRect">
            <a:avLst>
              <a:gd name="adj" fmla="val 8000"/>
            </a:avLst>
          </a:prstGeom>
          <a:solidFill>
            <a:srgbClr val="FFFFFF"/>
          </a:solidFill>
          <a:ln w="12700">
            <a:solidFill>
              <a:srgbClr val="DDE5EC"/>
            </a:solidFill>
            <a:prstDash val="solid"/>
          </a:ln>
        </p:spPr>
      </p:sp>
      <p:sp>
        <p:nvSpPr>
          <p:cNvPr id="9" name="Shape 7"/>
          <p:cNvSpPr/>
          <p:nvPr/>
        </p:nvSpPr>
        <p:spPr>
          <a:xfrm>
            <a:off x="6464808" y="1805940"/>
            <a:ext cx="502920" cy="502920"/>
          </a:xfrm>
          <a:prstGeom prst="ellipse">
            <a:avLst/>
          </a:prstGeom>
          <a:solidFill>
            <a:srgbClr val="0E7C86"/>
          </a:solidFill>
          <a:ln/>
        </p:spPr>
      </p:sp>
      <p:sp>
        <p:nvSpPr>
          <p:cNvPr id="10" name="Text 8"/>
          <p:cNvSpPr/>
          <p:nvPr/>
        </p:nvSpPr>
        <p:spPr>
          <a:xfrm>
            <a:off x="6464808" y="1805940"/>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11" name="Text 9"/>
          <p:cNvSpPr/>
          <p:nvPr/>
        </p:nvSpPr>
        <p:spPr>
          <a:xfrm>
            <a:off x="7132320" y="1600200"/>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Predictive deployment failure detection</a:t>
            </a:r>
            <a:endParaRPr lang="en-US" sz="1400" dirty="0"/>
          </a:p>
        </p:txBody>
      </p:sp>
      <p:sp>
        <p:nvSpPr>
          <p:cNvPr id="12" name="Shape 10"/>
          <p:cNvSpPr/>
          <p:nvPr/>
        </p:nvSpPr>
        <p:spPr>
          <a:xfrm>
            <a:off x="548640" y="2679192"/>
            <a:ext cx="5394960" cy="914400"/>
          </a:xfrm>
          <a:prstGeom prst="roundRect">
            <a:avLst>
              <a:gd name="adj" fmla="val 8000"/>
            </a:avLst>
          </a:prstGeom>
          <a:solidFill>
            <a:srgbClr val="FFFFFF"/>
          </a:solidFill>
          <a:ln w="12700">
            <a:solidFill>
              <a:srgbClr val="DDE5EC"/>
            </a:solidFill>
            <a:prstDash val="solid"/>
          </a:ln>
        </p:spPr>
      </p:sp>
      <p:sp>
        <p:nvSpPr>
          <p:cNvPr id="13" name="Shape 11"/>
          <p:cNvSpPr/>
          <p:nvPr/>
        </p:nvSpPr>
        <p:spPr>
          <a:xfrm>
            <a:off x="749808" y="2884932"/>
            <a:ext cx="502920" cy="502920"/>
          </a:xfrm>
          <a:prstGeom prst="ellipse">
            <a:avLst/>
          </a:prstGeom>
          <a:solidFill>
            <a:srgbClr val="F2A63A"/>
          </a:solidFill>
          <a:ln/>
        </p:spPr>
      </p:sp>
      <p:sp>
        <p:nvSpPr>
          <p:cNvPr id="14" name="Text 12"/>
          <p:cNvSpPr/>
          <p:nvPr/>
        </p:nvSpPr>
        <p:spPr>
          <a:xfrm>
            <a:off x="749808" y="2884932"/>
            <a:ext cx="502920" cy="502920"/>
          </a:xfrm>
          <a:prstGeom prst="rect">
            <a:avLst/>
          </a:prstGeom>
          <a:noFill/>
          <a:ln/>
        </p:spPr>
        <p:txBody>
          <a:bodyPr wrap="square" rtlCol="0" anchor="ctr"/>
          <a:lstStyle/>
          <a:p>
            <a:pPr algn="ctr" indent="0" marL="0">
              <a:buNone/>
            </a:pPr>
            <a:r>
              <a:rPr lang="en-US" sz="1430" b="1" dirty="0">
                <a:solidFill>
                  <a:srgbClr val="12233F"/>
                </a:solidFill>
                <a:latin typeface="Calibri" pitchFamily="34" charset="0"/>
                <a:ea typeface="Calibri" pitchFamily="34" charset="-122"/>
                <a:cs typeface="Calibri" pitchFamily="34" charset="-120"/>
              </a:rPr>
              <a:t>+</a:t>
            </a:r>
            <a:endParaRPr lang="en-US" sz="1430" dirty="0"/>
          </a:p>
        </p:txBody>
      </p:sp>
      <p:sp>
        <p:nvSpPr>
          <p:cNvPr id="15" name="Text 13"/>
          <p:cNvSpPr/>
          <p:nvPr/>
        </p:nvSpPr>
        <p:spPr>
          <a:xfrm>
            <a:off x="1417320" y="2679192"/>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Kubernetes support</a:t>
            </a:r>
            <a:endParaRPr lang="en-US" sz="1400" dirty="0"/>
          </a:p>
        </p:txBody>
      </p:sp>
      <p:sp>
        <p:nvSpPr>
          <p:cNvPr id="16" name="Shape 14"/>
          <p:cNvSpPr/>
          <p:nvPr/>
        </p:nvSpPr>
        <p:spPr>
          <a:xfrm>
            <a:off x="6263640" y="2679192"/>
            <a:ext cx="5394960" cy="914400"/>
          </a:xfrm>
          <a:prstGeom prst="roundRect">
            <a:avLst>
              <a:gd name="adj" fmla="val 8000"/>
            </a:avLst>
          </a:prstGeom>
          <a:solidFill>
            <a:srgbClr val="FFFFFF"/>
          </a:solidFill>
          <a:ln w="12700">
            <a:solidFill>
              <a:srgbClr val="DDE5EC"/>
            </a:solidFill>
            <a:prstDash val="solid"/>
          </a:ln>
        </p:spPr>
      </p:sp>
      <p:sp>
        <p:nvSpPr>
          <p:cNvPr id="17" name="Shape 15"/>
          <p:cNvSpPr/>
          <p:nvPr/>
        </p:nvSpPr>
        <p:spPr>
          <a:xfrm>
            <a:off x="6464808" y="2884932"/>
            <a:ext cx="502920" cy="502920"/>
          </a:xfrm>
          <a:prstGeom prst="ellipse">
            <a:avLst/>
          </a:prstGeom>
          <a:solidFill>
            <a:srgbClr val="0E7C86"/>
          </a:solidFill>
          <a:ln/>
        </p:spPr>
      </p:sp>
      <p:sp>
        <p:nvSpPr>
          <p:cNvPr id="18" name="Text 16"/>
          <p:cNvSpPr/>
          <p:nvPr/>
        </p:nvSpPr>
        <p:spPr>
          <a:xfrm>
            <a:off x="6464808" y="2884932"/>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19" name="Text 17"/>
          <p:cNvSpPr/>
          <p:nvPr/>
        </p:nvSpPr>
        <p:spPr>
          <a:xfrm>
            <a:off x="7132320" y="2679192"/>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Multi-cloud monitoring</a:t>
            </a:r>
            <a:endParaRPr lang="en-US" sz="1400" dirty="0"/>
          </a:p>
        </p:txBody>
      </p:sp>
      <p:sp>
        <p:nvSpPr>
          <p:cNvPr id="20" name="Shape 18"/>
          <p:cNvSpPr/>
          <p:nvPr/>
        </p:nvSpPr>
        <p:spPr>
          <a:xfrm>
            <a:off x="548640" y="3758184"/>
            <a:ext cx="5394960" cy="914400"/>
          </a:xfrm>
          <a:prstGeom prst="roundRect">
            <a:avLst>
              <a:gd name="adj" fmla="val 8000"/>
            </a:avLst>
          </a:prstGeom>
          <a:solidFill>
            <a:srgbClr val="FFFFFF"/>
          </a:solidFill>
          <a:ln w="12700">
            <a:solidFill>
              <a:srgbClr val="DDE5EC"/>
            </a:solidFill>
            <a:prstDash val="solid"/>
          </a:ln>
        </p:spPr>
      </p:sp>
      <p:sp>
        <p:nvSpPr>
          <p:cNvPr id="21" name="Shape 19"/>
          <p:cNvSpPr/>
          <p:nvPr/>
        </p:nvSpPr>
        <p:spPr>
          <a:xfrm>
            <a:off x="749808" y="3963924"/>
            <a:ext cx="502920" cy="502920"/>
          </a:xfrm>
          <a:prstGeom prst="ellipse">
            <a:avLst/>
          </a:prstGeom>
          <a:solidFill>
            <a:srgbClr val="F2A63A"/>
          </a:solidFill>
          <a:ln/>
        </p:spPr>
      </p:sp>
      <p:sp>
        <p:nvSpPr>
          <p:cNvPr id="22" name="Text 20"/>
          <p:cNvSpPr/>
          <p:nvPr/>
        </p:nvSpPr>
        <p:spPr>
          <a:xfrm>
            <a:off x="749808" y="3963924"/>
            <a:ext cx="502920" cy="502920"/>
          </a:xfrm>
          <a:prstGeom prst="rect">
            <a:avLst/>
          </a:prstGeom>
          <a:noFill/>
          <a:ln/>
        </p:spPr>
        <p:txBody>
          <a:bodyPr wrap="square" rtlCol="0" anchor="ctr"/>
          <a:lstStyle/>
          <a:p>
            <a:pPr algn="ctr" indent="0" marL="0">
              <a:buNone/>
            </a:pPr>
            <a:r>
              <a:rPr lang="en-US" sz="1430" b="1" dirty="0">
                <a:solidFill>
                  <a:srgbClr val="12233F"/>
                </a:solidFill>
                <a:latin typeface="Calibri" pitchFamily="34" charset="0"/>
                <a:ea typeface="Calibri" pitchFamily="34" charset="-122"/>
                <a:cs typeface="Calibri" pitchFamily="34" charset="-120"/>
              </a:rPr>
              <a:t>+</a:t>
            </a:r>
            <a:endParaRPr lang="en-US" sz="1430" dirty="0"/>
          </a:p>
        </p:txBody>
      </p:sp>
      <p:sp>
        <p:nvSpPr>
          <p:cNvPr id="23" name="Text 21"/>
          <p:cNvSpPr/>
          <p:nvPr/>
        </p:nvSpPr>
        <p:spPr>
          <a:xfrm>
            <a:off x="1417320" y="3758184"/>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Docker container monitoring</a:t>
            </a:r>
            <a:endParaRPr lang="en-US" sz="1400" dirty="0"/>
          </a:p>
        </p:txBody>
      </p:sp>
      <p:sp>
        <p:nvSpPr>
          <p:cNvPr id="24" name="Shape 22"/>
          <p:cNvSpPr/>
          <p:nvPr/>
        </p:nvSpPr>
        <p:spPr>
          <a:xfrm>
            <a:off x="6263640" y="3758184"/>
            <a:ext cx="5394960" cy="914400"/>
          </a:xfrm>
          <a:prstGeom prst="roundRect">
            <a:avLst>
              <a:gd name="adj" fmla="val 8000"/>
            </a:avLst>
          </a:prstGeom>
          <a:solidFill>
            <a:srgbClr val="FFFFFF"/>
          </a:solidFill>
          <a:ln w="12700">
            <a:solidFill>
              <a:srgbClr val="DDE5EC"/>
            </a:solidFill>
            <a:prstDash val="solid"/>
          </a:ln>
        </p:spPr>
      </p:sp>
      <p:sp>
        <p:nvSpPr>
          <p:cNvPr id="25" name="Shape 23"/>
          <p:cNvSpPr/>
          <p:nvPr/>
        </p:nvSpPr>
        <p:spPr>
          <a:xfrm>
            <a:off x="6464808" y="3963924"/>
            <a:ext cx="502920" cy="502920"/>
          </a:xfrm>
          <a:prstGeom prst="ellipse">
            <a:avLst/>
          </a:prstGeom>
          <a:solidFill>
            <a:srgbClr val="0E7C86"/>
          </a:solidFill>
          <a:ln/>
        </p:spPr>
      </p:sp>
      <p:sp>
        <p:nvSpPr>
          <p:cNvPr id="26" name="Text 24"/>
          <p:cNvSpPr/>
          <p:nvPr/>
        </p:nvSpPr>
        <p:spPr>
          <a:xfrm>
            <a:off x="6464808" y="3963924"/>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27" name="Text 25"/>
          <p:cNvSpPr/>
          <p:nvPr/>
        </p:nvSpPr>
        <p:spPr>
          <a:xfrm>
            <a:off x="7132320" y="3758184"/>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User authentication &amp; RBAC</a:t>
            </a:r>
            <a:endParaRPr lang="en-US" sz="1400" dirty="0"/>
          </a:p>
        </p:txBody>
      </p:sp>
      <p:sp>
        <p:nvSpPr>
          <p:cNvPr id="28" name="Shape 26"/>
          <p:cNvSpPr/>
          <p:nvPr/>
        </p:nvSpPr>
        <p:spPr>
          <a:xfrm>
            <a:off x="548640" y="4837176"/>
            <a:ext cx="5394960" cy="914400"/>
          </a:xfrm>
          <a:prstGeom prst="roundRect">
            <a:avLst>
              <a:gd name="adj" fmla="val 8000"/>
            </a:avLst>
          </a:prstGeom>
          <a:solidFill>
            <a:srgbClr val="FFFFFF"/>
          </a:solidFill>
          <a:ln w="12700">
            <a:solidFill>
              <a:srgbClr val="DDE5EC"/>
            </a:solidFill>
            <a:prstDash val="solid"/>
          </a:ln>
        </p:spPr>
      </p:sp>
      <p:sp>
        <p:nvSpPr>
          <p:cNvPr id="29" name="Shape 27"/>
          <p:cNvSpPr/>
          <p:nvPr/>
        </p:nvSpPr>
        <p:spPr>
          <a:xfrm>
            <a:off x="749808" y="5042916"/>
            <a:ext cx="502920" cy="502920"/>
          </a:xfrm>
          <a:prstGeom prst="ellipse">
            <a:avLst/>
          </a:prstGeom>
          <a:solidFill>
            <a:srgbClr val="F2A63A"/>
          </a:solidFill>
          <a:ln/>
        </p:spPr>
      </p:sp>
      <p:sp>
        <p:nvSpPr>
          <p:cNvPr id="30" name="Text 28"/>
          <p:cNvSpPr/>
          <p:nvPr/>
        </p:nvSpPr>
        <p:spPr>
          <a:xfrm>
            <a:off x="749808" y="5042916"/>
            <a:ext cx="502920" cy="502920"/>
          </a:xfrm>
          <a:prstGeom prst="rect">
            <a:avLst/>
          </a:prstGeom>
          <a:noFill/>
          <a:ln/>
        </p:spPr>
        <p:txBody>
          <a:bodyPr wrap="square" rtlCol="0" anchor="ctr"/>
          <a:lstStyle/>
          <a:p>
            <a:pPr algn="ctr" indent="0" marL="0">
              <a:buNone/>
            </a:pPr>
            <a:r>
              <a:rPr lang="en-US" sz="1430" b="1" dirty="0">
                <a:solidFill>
                  <a:srgbClr val="12233F"/>
                </a:solidFill>
                <a:latin typeface="Calibri" pitchFamily="34" charset="0"/>
                <a:ea typeface="Calibri" pitchFamily="34" charset="-122"/>
                <a:cs typeface="Calibri" pitchFamily="34" charset="-120"/>
              </a:rPr>
              <a:t>+</a:t>
            </a:r>
            <a:endParaRPr lang="en-US" sz="1430" dirty="0"/>
          </a:p>
        </p:txBody>
      </p:sp>
      <p:sp>
        <p:nvSpPr>
          <p:cNvPr id="31" name="Text 29"/>
          <p:cNvSpPr/>
          <p:nvPr/>
        </p:nvSpPr>
        <p:spPr>
          <a:xfrm>
            <a:off x="1417320" y="4837176"/>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Mobile application</a:t>
            </a:r>
            <a:endParaRPr lang="en-US" sz="1400" dirty="0"/>
          </a:p>
        </p:txBody>
      </p:sp>
      <p:sp>
        <p:nvSpPr>
          <p:cNvPr id="32" name="Shape 30"/>
          <p:cNvSpPr/>
          <p:nvPr/>
        </p:nvSpPr>
        <p:spPr>
          <a:xfrm>
            <a:off x="6263640" y="4837176"/>
            <a:ext cx="5394960" cy="914400"/>
          </a:xfrm>
          <a:prstGeom prst="roundRect">
            <a:avLst>
              <a:gd name="adj" fmla="val 8000"/>
            </a:avLst>
          </a:prstGeom>
          <a:solidFill>
            <a:srgbClr val="FFFFFF"/>
          </a:solidFill>
          <a:ln w="12700">
            <a:solidFill>
              <a:srgbClr val="DDE5EC"/>
            </a:solidFill>
            <a:prstDash val="solid"/>
          </a:ln>
        </p:spPr>
      </p:sp>
      <p:sp>
        <p:nvSpPr>
          <p:cNvPr id="33" name="Shape 31"/>
          <p:cNvSpPr/>
          <p:nvPr/>
        </p:nvSpPr>
        <p:spPr>
          <a:xfrm>
            <a:off x="6464808" y="5042916"/>
            <a:ext cx="502920" cy="502920"/>
          </a:xfrm>
          <a:prstGeom prst="ellipse">
            <a:avLst/>
          </a:prstGeom>
          <a:solidFill>
            <a:srgbClr val="0E7C86"/>
          </a:solidFill>
          <a:ln/>
        </p:spPr>
      </p:sp>
      <p:sp>
        <p:nvSpPr>
          <p:cNvPr id="34" name="Text 32"/>
          <p:cNvSpPr/>
          <p:nvPr/>
        </p:nvSpPr>
        <p:spPr>
          <a:xfrm>
            <a:off x="6464808" y="5042916"/>
            <a:ext cx="502920" cy="502920"/>
          </a:xfrm>
          <a:prstGeom prst="rect">
            <a:avLst/>
          </a:prstGeom>
          <a:noFill/>
          <a:ln/>
        </p:spPr>
        <p:txBody>
          <a:bodyPr wrap="square"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35" name="Text 33"/>
          <p:cNvSpPr/>
          <p:nvPr/>
        </p:nvSpPr>
        <p:spPr>
          <a:xfrm>
            <a:off x="7132320" y="4837176"/>
            <a:ext cx="4343400" cy="914400"/>
          </a:xfrm>
          <a:prstGeom prst="rect">
            <a:avLst/>
          </a:prstGeom>
          <a:noFill/>
          <a:ln/>
        </p:spPr>
        <p:txBody>
          <a:bodyPr wrap="square"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Custom report generation</a:t>
            </a:r>
            <a:endParaRPr lang="en-US" sz="1400" dirty="0"/>
          </a:p>
        </p:txBody>
      </p:sp>
      <p:sp>
        <p:nvSpPr>
          <p:cNvPr id="36" name="Text 34"/>
          <p:cNvSpPr/>
          <p:nvPr/>
        </p:nvSpPr>
        <p:spPr>
          <a:xfrm>
            <a:off x="457200" y="6537960"/>
            <a:ext cx="5486400" cy="274320"/>
          </a:xfrm>
          <a:prstGeom prst="rect">
            <a:avLst/>
          </a:prstGeom>
          <a:noFill/>
          <a:ln/>
        </p:spPr>
        <p:txBody>
          <a:bodyPr wrap="square" rtlCol="0" anchor="ctr"/>
          <a:lstStyle/>
          <a:p>
            <a:pPr indent="0" marL="0">
              <a:buNone/>
            </a:pPr>
            <a:r>
              <a:rPr lang="en-US" sz="900" dirty="0">
                <a:solidFill>
                  <a:srgbClr val="5B6B7C"/>
                </a:solidFill>
                <a:latin typeface="Calibri" pitchFamily="34" charset="0"/>
                <a:ea typeface="Calibri" pitchFamily="34" charset="-122"/>
                <a:cs typeface="Calibri" pitchFamily="34" charset="-120"/>
              </a:rPr>
              <a:t>CloudPulse — SRS v1.0</a:t>
            </a:r>
            <a:endParaRPr lang="en-US" sz="900" dirty="0"/>
          </a:p>
        </p:txBody>
      </p:sp>
      <p:sp>
        <p:nvSpPr>
          <p:cNvPr id="37" name="Text 35"/>
          <p:cNvSpPr/>
          <p:nvPr/>
        </p:nvSpPr>
        <p:spPr>
          <a:xfrm>
            <a:off x="11274552" y="6537960"/>
            <a:ext cx="457200" cy="274320"/>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1828800" y="4389120"/>
            <a:ext cx="5029200" cy="5029200"/>
          </a:xfrm>
          <a:prstGeom prst="ellipse">
            <a:avLst/>
          </a:prstGeom>
          <a:solidFill>
            <a:srgbClr val="1B2F52"/>
          </a:solidFill>
          <a:ln/>
        </p:spPr>
      </p:sp>
      <p:sp>
        <p:nvSpPr>
          <p:cNvPr id="3" name="Text 1"/>
          <p:cNvSpPr/>
          <p:nvPr/>
        </p:nvSpPr>
        <p:spPr>
          <a:xfrm>
            <a:off x="548640" y="502920"/>
            <a:ext cx="7315200" cy="274320"/>
          </a:xfrm>
          <a:prstGeom prst="rect">
            <a:avLst/>
          </a:prstGeom>
          <a:noFill/>
          <a:ln/>
        </p:spPr>
        <p:txBody>
          <a:bodyPr wrap="square" rtlCol="0" anchor="ctr"/>
          <a:lstStyle/>
          <a:p>
            <a:pPr indent="0" marL="0">
              <a:buNone/>
            </a:pPr>
            <a:r>
              <a:rPr lang="en-US" sz="1200" b="1" spc="200" kern="0" dirty="0">
                <a:solidFill>
                  <a:srgbClr val="F2A63A"/>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48640" y="749808"/>
            <a:ext cx="100584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Expected Outcomes</a:t>
            </a:r>
            <a:endParaRPr lang="en-US" sz="3000" dirty="0"/>
          </a:p>
        </p:txBody>
      </p:sp>
      <p:sp>
        <p:nvSpPr>
          <p:cNvPr id="5" name="Shape 3"/>
          <p:cNvSpPr/>
          <p:nvPr/>
        </p:nvSpPr>
        <p:spPr>
          <a:xfrm>
            <a:off x="548640" y="1508760"/>
            <a:ext cx="2651760" cy="914400"/>
          </a:xfrm>
          <a:prstGeom prst="roundRect">
            <a:avLst>
              <a:gd name="adj" fmla="val 8000"/>
            </a:avLst>
          </a:prstGeom>
          <a:solidFill>
            <a:srgbClr val="1B2F52"/>
          </a:solidFill>
          <a:ln/>
        </p:spPr>
      </p:sp>
      <p:sp>
        <p:nvSpPr>
          <p:cNvPr id="6" name="Text 4"/>
          <p:cNvSpPr/>
          <p:nvPr/>
        </p:nvSpPr>
        <p:spPr>
          <a:xfrm>
            <a:off x="685800" y="1600200"/>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85800" y="1892808"/>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Centralized DevOps monitoring</a:t>
            </a:r>
            <a:endParaRPr lang="en-US" sz="1100" dirty="0"/>
          </a:p>
        </p:txBody>
      </p:sp>
      <p:sp>
        <p:nvSpPr>
          <p:cNvPr id="8" name="Shape 6"/>
          <p:cNvSpPr/>
          <p:nvPr/>
        </p:nvSpPr>
        <p:spPr>
          <a:xfrm>
            <a:off x="3355848" y="1508760"/>
            <a:ext cx="2651760" cy="914400"/>
          </a:xfrm>
          <a:prstGeom prst="roundRect">
            <a:avLst>
              <a:gd name="adj" fmla="val 8000"/>
            </a:avLst>
          </a:prstGeom>
          <a:solidFill>
            <a:srgbClr val="1B2F52"/>
          </a:solidFill>
          <a:ln/>
        </p:spPr>
      </p:sp>
      <p:sp>
        <p:nvSpPr>
          <p:cNvPr id="9" name="Text 7"/>
          <p:cNvSpPr/>
          <p:nvPr/>
        </p:nvSpPr>
        <p:spPr>
          <a:xfrm>
            <a:off x="3493008" y="1600200"/>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3493008" y="1892808"/>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Real-time deployment visibility</a:t>
            </a:r>
            <a:endParaRPr lang="en-US" sz="1100" dirty="0"/>
          </a:p>
        </p:txBody>
      </p:sp>
      <p:sp>
        <p:nvSpPr>
          <p:cNvPr id="11" name="Shape 9"/>
          <p:cNvSpPr/>
          <p:nvPr/>
        </p:nvSpPr>
        <p:spPr>
          <a:xfrm>
            <a:off x="6163056" y="1508760"/>
            <a:ext cx="2651760" cy="914400"/>
          </a:xfrm>
          <a:prstGeom prst="roundRect">
            <a:avLst>
              <a:gd name="adj" fmla="val 8000"/>
            </a:avLst>
          </a:prstGeom>
          <a:solidFill>
            <a:srgbClr val="1B2F52"/>
          </a:solidFill>
          <a:ln/>
        </p:spPr>
      </p:sp>
      <p:sp>
        <p:nvSpPr>
          <p:cNvPr id="12" name="Text 10"/>
          <p:cNvSpPr/>
          <p:nvPr/>
        </p:nvSpPr>
        <p:spPr>
          <a:xfrm>
            <a:off x="6300216" y="1600200"/>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6300216" y="1892808"/>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Faster issue identification</a:t>
            </a:r>
            <a:endParaRPr lang="en-US" sz="1100" dirty="0"/>
          </a:p>
        </p:txBody>
      </p:sp>
      <p:sp>
        <p:nvSpPr>
          <p:cNvPr id="14" name="Shape 12"/>
          <p:cNvSpPr/>
          <p:nvPr/>
        </p:nvSpPr>
        <p:spPr>
          <a:xfrm>
            <a:off x="8970264" y="1508760"/>
            <a:ext cx="2651760" cy="914400"/>
          </a:xfrm>
          <a:prstGeom prst="roundRect">
            <a:avLst>
              <a:gd name="adj" fmla="val 8000"/>
            </a:avLst>
          </a:prstGeom>
          <a:solidFill>
            <a:srgbClr val="1B2F52"/>
          </a:solidFill>
          <a:ln/>
        </p:spPr>
      </p:sp>
      <p:sp>
        <p:nvSpPr>
          <p:cNvPr id="15" name="Text 13"/>
          <p:cNvSpPr/>
          <p:nvPr/>
        </p:nvSpPr>
        <p:spPr>
          <a:xfrm>
            <a:off x="9107424" y="1600200"/>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107424" y="1892808"/>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Infrastructure monitoring via Grafana</a:t>
            </a:r>
            <a:endParaRPr lang="en-US" sz="1100" dirty="0"/>
          </a:p>
        </p:txBody>
      </p:sp>
      <p:sp>
        <p:nvSpPr>
          <p:cNvPr id="17" name="Shape 15"/>
          <p:cNvSpPr/>
          <p:nvPr/>
        </p:nvSpPr>
        <p:spPr>
          <a:xfrm>
            <a:off x="548640" y="2587752"/>
            <a:ext cx="2651760" cy="914400"/>
          </a:xfrm>
          <a:prstGeom prst="roundRect">
            <a:avLst>
              <a:gd name="adj" fmla="val 8000"/>
            </a:avLst>
          </a:prstGeom>
          <a:solidFill>
            <a:srgbClr val="1B2F52"/>
          </a:solidFill>
          <a:ln/>
        </p:spPr>
      </p:sp>
      <p:sp>
        <p:nvSpPr>
          <p:cNvPr id="18" name="Text 16"/>
          <p:cNvSpPr/>
          <p:nvPr/>
        </p:nvSpPr>
        <p:spPr>
          <a:xfrm>
            <a:off x="685800" y="2679192"/>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685800" y="2971800"/>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Automated notifications</a:t>
            </a:r>
            <a:endParaRPr lang="en-US" sz="1100" dirty="0"/>
          </a:p>
        </p:txBody>
      </p:sp>
      <p:sp>
        <p:nvSpPr>
          <p:cNvPr id="20" name="Shape 18"/>
          <p:cNvSpPr/>
          <p:nvPr/>
        </p:nvSpPr>
        <p:spPr>
          <a:xfrm>
            <a:off x="3355848" y="2587752"/>
            <a:ext cx="2651760" cy="914400"/>
          </a:xfrm>
          <a:prstGeom prst="roundRect">
            <a:avLst>
              <a:gd name="adj" fmla="val 8000"/>
            </a:avLst>
          </a:prstGeom>
          <a:solidFill>
            <a:srgbClr val="1B2F52"/>
          </a:solidFill>
          <a:ln/>
        </p:spPr>
      </p:sp>
      <p:sp>
        <p:nvSpPr>
          <p:cNvPr id="21" name="Text 19"/>
          <p:cNvSpPr/>
          <p:nvPr/>
        </p:nvSpPr>
        <p:spPr>
          <a:xfrm>
            <a:off x="3493008" y="2679192"/>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3493008" y="2971800"/>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Historical deployment tracking</a:t>
            </a:r>
            <a:endParaRPr lang="en-US" sz="1100" dirty="0"/>
          </a:p>
        </p:txBody>
      </p:sp>
      <p:sp>
        <p:nvSpPr>
          <p:cNvPr id="23" name="Shape 21"/>
          <p:cNvSpPr/>
          <p:nvPr/>
        </p:nvSpPr>
        <p:spPr>
          <a:xfrm>
            <a:off x="6163056" y="2587752"/>
            <a:ext cx="2651760" cy="914400"/>
          </a:xfrm>
          <a:prstGeom prst="roundRect">
            <a:avLst>
              <a:gd name="adj" fmla="val 8000"/>
            </a:avLst>
          </a:prstGeom>
          <a:solidFill>
            <a:srgbClr val="1B2F52"/>
          </a:solidFill>
          <a:ln/>
        </p:spPr>
      </p:sp>
      <p:sp>
        <p:nvSpPr>
          <p:cNvPr id="24" name="Text 22"/>
          <p:cNvSpPr/>
          <p:nvPr/>
        </p:nvSpPr>
        <p:spPr>
          <a:xfrm>
            <a:off x="6300216" y="2679192"/>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6300216" y="2971800"/>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Improved operational efficiency</a:t>
            </a:r>
            <a:endParaRPr lang="en-US" sz="1100" dirty="0"/>
          </a:p>
        </p:txBody>
      </p:sp>
      <p:sp>
        <p:nvSpPr>
          <p:cNvPr id="26" name="Shape 24"/>
          <p:cNvSpPr/>
          <p:nvPr/>
        </p:nvSpPr>
        <p:spPr>
          <a:xfrm>
            <a:off x="8970264" y="2587752"/>
            <a:ext cx="2651760" cy="914400"/>
          </a:xfrm>
          <a:prstGeom prst="roundRect">
            <a:avLst>
              <a:gd name="adj" fmla="val 8000"/>
            </a:avLst>
          </a:prstGeom>
          <a:solidFill>
            <a:srgbClr val="1B2F52"/>
          </a:solidFill>
          <a:ln/>
        </p:spPr>
      </p:sp>
      <p:sp>
        <p:nvSpPr>
          <p:cNvPr id="27" name="Text 25"/>
          <p:cNvSpPr/>
          <p:nvPr/>
        </p:nvSpPr>
        <p:spPr>
          <a:xfrm>
            <a:off x="9107424" y="2679192"/>
            <a:ext cx="365760" cy="365760"/>
          </a:xfrm>
          <a:prstGeom prst="rect">
            <a:avLst/>
          </a:prstGeom>
          <a:noFill/>
          <a:ln/>
        </p:spPr>
        <p:txBody>
          <a:bodyPr wrap="square" rtlCol="0" anchor="ctr"/>
          <a:lstStyle/>
          <a:p>
            <a:pPr indent="0" marL="0">
              <a:buNone/>
            </a:pPr>
            <a:r>
              <a:rPr lang="en-US" sz="1600" b="1" dirty="0">
                <a:solidFill>
                  <a:srgbClr val="F2A63A"/>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9107424" y="2971800"/>
            <a:ext cx="2377440" cy="457200"/>
          </a:xfrm>
          <a:prstGeom prst="rect">
            <a:avLst/>
          </a:prstGeom>
          <a:noFill/>
          <a:ln/>
        </p:spPr>
        <p:txBody>
          <a:bodyPr wrap="square" rtlCol="0" anchor="ctr"/>
          <a:lstStyle/>
          <a:p>
            <a:pPr indent="0" marL="0">
              <a:lnSpc>
                <a:spcPct val="105000"/>
              </a:lnSpc>
              <a:buNone/>
            </a:pPr>
            <a:r>
              <a:rPr lang="en-US" sz="1100" b="1" dirty="0">
                <a:solidFill>
                  <a:srgbClr val="E7EEF4"/>
                </a:solidFill>
                <a:latin typeface="Calibri" pitchFamily="34" charset="0"/>
                <a:ea typeface="Calibri" pitchFamily="34" charset="-122"/>
                <a:cs typeface="Calibri" pitchFamily="34" charset="-120"/>
              </a:rPr>
              <a:t>Better decisions through analytics</a:t>
            </a:r>
            <a:endParaRPr lang="en-US" sz="1100" dirty="0"/>
          </a:p>
        </p:txBody>
      </p:sp>
      <p:sp>
        <p:nvSpPr>
          <p:cNvPr id="29" name="Shape 27"/>
          <p:cNvSpPr/>
          <p:nvPr/>
        </p:nvSpPr>
        <p:spPr>
          <a:xfrm>
            <a:off x="548640" y="3794760"/>
            <a:ext cx="11064240" cy="0"/>
          </a:xfrm>
          <a:prstGeom prst="line">
            <a:avLst/>
          </a:prstGeom>
          <a:noFill/>
          <a:ln w="12700">
            <a:solidFill>
              <a:srgbClr val="2C3F60"/>
            </a:solidFill>
            <a:prstDash val="solid"/>
          </a:ln>
        </p:spPr>
      </p:sp>
      <p:sp>
        <p:nvSpPr>
          <p:cNvPr id="30" name="Text 28"/>
          <p:cNvSpPr/>
          <p:nvPr/>
        </p:nvSpPr>
        <p:spPr>
          <a:xfrm>
            <a:off x="548640" y="4023360"/>
            <a:ext cx="11064240" cy="1371600"/>
          </a:xfrm>
          <a:prstGeom prst="rect">
            <a:avLst/>
          </a:prstGeom>
          <a:noFill/>
          <a:ln/>
        </p:spPr>
        <p:txBody>
          <a:bodyPr wrap="square" rtlCol="0" anchor="ctr"/>
          <a:lstStyle/>
          <a:p>
            <a:pPr indent="0" marL="0">
              <a:lnSpc>
                <a:spcPct val="135000"/>
              </a:lnSpc>
              <a:buNone/>
            </a:pPr>
            <a:r>
              <a:rPr lang="en-US" sz="1450" dirty="0">
                <a:solidFill>
                  <a:srgbClr val="CADCE8"/>
                </a:solidFill>
                <a:latin typeface="Calibri" pitchFamily="34" charset="0"/>
                <a:ea typeface="Calibri" pitchFamily="34" charset="-122"/>
                <a:cs typeface="Calibri" pitchFamily="34" charset="-120"/>
              </a:rPr>
              <a:t>CloudPulse combines Jenkins, AWS services, Grafana, and CloudWatch into a unified DevOps observability platform. It enables teams to monitor CI/CD pipelines, infrastructure health, deployment activity, and failures from a single dashboard — reducing troubleshooting effort while staying lightweight enough for a hackathon implementation.</a:t>
            </a:r>
            <a:endParaRPr lang="en-US" sz="1450" dirty="0"/>
          </a:p>
        </p:txBody>
      </p:sp>
      <p:sp>
        <p:nvSpPr>
          <p:cNvPr id="31" name="Text 29"/>
          <p:cNvSpPr/>
          <p:nvPr/>
        </p:nvSpPr>
        <p:spPr>
          <a:xfrm>
            <a:off x="548640" y="6492240"/>
            <a:ext cx="5486400" cy="274320"/>
          </a:xfrm>
          <a:prstGeom prst="rect">
            <a:avLst/>
          </a:prstGeom>
          <a:noFill/>
          <a:ln/>
        </p:spPr>
        <p:txBody>
          <a:bodyPr wrap="square" rtlCol="0" anchor="ctr"/>
          <a:lstStyle/>
          <a:p>
            <a:pPr indent="0" marL="0">
              <a:buNone/>
            </a:pPr>
            <a:r>
              <a:rPr lang="en-US" sz="1000" dirty="0">
                <a:solidFill>
                  <a:srgbClr val="6C81A0"/>
                </a:solidFill>
                <a:latin typeface="Calibri" pitchFamily="34" charset="0"/>
                <a:ea typeface="Calibri" pitchFamily="34" charset="-122"/>
                <a:cs typeface="Calibri" pitchFamily="34" charset="-120"/>
              </a:rPr>
              <a:t>CloudPulse — SRS v1.0</a:t>
            </a:r>
            <a:endParaRPr lang="en-US" sz="1000" dirty="0"/>
          </a:p>
        </p:txBody>
      </p:sp>
      <p:sp>
        <p:nvSpPr>
          <p:cNvPr id="32" name="Text 30"/>
          <p:cNvSpPr/>
          <p:nvPr/>
        </p:nvSpPr>
        <p:spPr>
          <a:xfrm>
            <a:off x="11274552" y="6492240"/>
            <a:ext cx="457200" cy="274320"/>
          </a:xfrm>
          <a:prstGeom prst="rect">
            <a:avLst/>
          </a:prstGeom>
          <a:noFill/>
          <a:ln/>
        </p:spPr>
        <p:txBody>
          <a:bodyPr wrap="square" rtlCol="0" anchor="ctr"/>
          <a:lstStyle/>
          <a:p>
            <a:pPr algn="r" indent="0" marL="0">
              <a:buNone/>
            </a:pPr>
            <a:r>
              <a:rPr lang="en-US" sz="1000" dirty="0">
                <a:solidFill>
                  <a:srgbClr val="6C81A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2026-07-31T06:03:47Z</dcterms:created>
  <dcterms:modified xsi:type="dcterms:W3CDTF">2026-07-31T06:03:47Z</dcterms:modified>
</cp:coreProperties>
</file>